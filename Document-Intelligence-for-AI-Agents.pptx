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2EEA46B-5215-4FBF-B7BA-CFB378AD31D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1143000" y="685800"/>
            <a:ext cx="4571280" cy="3428280"/>
          </a:xfrm>
          <a:prstGeom prst="rect">
            <a:avLst/>
          </a:prstGeom>
          <a:ln w="0">
            <a:noFill/>
          </a:ln>
        </p:spPr>
      </p:sp>
      <p:sp>
        <p:nvSpPr>
          <p:cNvPr id="42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 stateless document-understanding service. Files in, structured facts out.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Two things this deck covers, in the order the room cares about them:</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1. What it unlocks when you put it in front of an AI agent.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2. How each file type is actually handled under the hood.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It is a cluster-internal HTTP service, not a product with a UI. It is called by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other services and by agent runtimes over a single synchronous endpoint.</a:t>
            </a:r>
            <a:endParaRPr b="0" lang="en-US" sz="2000" spc="-1" strike="noStrike">
              <a:solidFill>
                <a:srgbClr val="000000"/>
              </a:solidFill>
              <a:latin typeface="Arial"/>
            </a:endParaRPr>
          </a:p>
        </p:txBody>
      </p:sp>
      <p:sp>
        <p:nvSpPr>
          <p:cNvPr id="423" name="PlaceHolder 3"/>
          <p:cNvSpPr>
            <a:spLocks noGrp="1"/>
          </p:cNvSpPr>
          <p:nvPr>
            <p:ph type="sldNum" idx="3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DC3A5DD-B311-4884-9E09-0412B90E56C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1143000" y="685800"/>
            <a:ext cx="4571280" cy="3428280"/>
          </a:xfrm>
          <a:prstGeom prst="rect">
            <a:avLst/>
          </a:prstGeom>
          <a:ln w="0">
            <a:noFill/>
          </a:ln>
        </p:spPr>
      </p:sp>
      <p:sp>
        <p:nvSpPr>
          <p:cNvPr id="42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Frame the problem as an engineering gap, not a model gap. Frontier models are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already good enough to reason about a bill of materials or a datasheet. They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simply never receive it in a form they can use.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failure mode worth naming out loud: silent wrongness. A scraped table that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loses its column alignment does not throw an error. It produces a plausible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answer that is wrong, and nothing downstream can tell.</a:t>
            </a:r>
            <a:endParaRPr b="0" lang="en-US" sz="2000" spc="-1" strike="noStrike">
              <a:solidFill>
                <a:srgbClr val="000000"/>
              </a:solidFill>
              <a:latin typeface="Arial"/>
            </a:endParaRPr>
          </a:p>
        </p:txBody>
      </p:sp>
      <p:sp>
        <p:nvSpPr>
          <p:cNvPr id="426" name="PlaceHolder 3"/>
          <p:cNvSpPr>
            <a:spLocks noGrp="1"/>
          </p:cNvSpPr>
          <p:nvPr>
            <p:ph type="sldNum" idx="3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6ED9836-40A1-4D06-93F4-5E328A5D1F7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1143000" y="685800"/>
            <a:ext cx="4571280" cy="3428280"/>
          </a:xfrm>
          <a:prstGeom prst="rect">
            <a:avLst/>
          </a:prstGeom>
          <a:ln w="0">
            <a:noFill/>
          </a:ln>
        </p:spPr>
      </p:sp>
      <p:sp>
        <p:nvSpPr>
          <p:cNvPr id="42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shape to remember: one request, N files, one response, N results — in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same order they were sent.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Synchronous by design. No job IDs, no polling, no callback URL. That decision is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what lets an agent call this inside a single tool call and keep reasoning with</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result in the same turn.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Caps shown are the defaults: 50 MB per file, 32 files per request, 100 seconds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per file, four files processed concurrently. All configurable.</a:t>
            </a:r>
            <a:endParaRPr b="0" lang="en-US" sz="2000" spc="-1" strike="noStrike">
              <a:solidFill>
                <a:srgbClr val="000000"/>
              </a:solidFill>
              <a:latin typeface="Arial"/>
            </a:endParaRPr>
          </a:p>
        </p:txBody>
      </p:sp>
      <p:sp>
        <p:nvSpPr>
          <p:cNvPr id="429" name="PlaceHolder 3"/>
          <p:cNvSpPr>
            <a:spLocks noGrp="1"/>
          </p:cNvSpPr>
          <p:nvPr>
            <p:ph type="sldNum" idx="3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E38B20D-9341-4582-A995-DF38E790273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1143000" y="685800"/>
            <a:ext cx="4571280" cy="3428280"/>
          </a:xfrm>
          <a:prstGeom prst="rect">
            <a:avLst/>
          </a:prstGeom>
          <a:ln w="0">
            <a:noFill/>
          </a:ln>
        </p:spPr>
      </p:sp>
      <p:sp>
        <p:nvSpPr>
          <p:cNvPr id="43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single most load-bearing design decision in the service, and the one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most likely to be argued with.</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temptation is always to let the extractor be clever: tag the document type,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flag the interesting rows, summarise. Every one of those is an irreversible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judgment made with less context than the agent has.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Concretely, this is enforced rather than merely intended: the image prompt is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pinned in source as a constant and covered by a snapshot test, so nobody can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loosen it into classification language without a test failing.</a:t>
            </a:r>
            <a:endParaRPr b="0" lang="en-US" sz="2000" spc="-1" strike="noStrike">
              <a:solidFill>
                <a:srgbClr val="000000"/>
              </a:solidFill>
              <a:latin typeface="Arial"/>
            </a:endParaRPr>
          </a:p>
        </p:txBody>
      </p:sp>
      <p:sp>
        <p:nvSpPr>
          <p:cNvPr id="432" name="PlaceHolder 3"/>
          <p:cNvSpPr>
            <a:spLocks noGrp="1"/>
          </p:cNvSpPr>
          <p:nvPr>
            <p:ph type="sldNum" idx="4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2BD582C-1053-4952-A803-27098835220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1143000" y="685800"/>
            <a:ext cx="4571280" cy="3428280"/>
          </a:xfrm>
          <a:prstGeom prst="rect">
            <a:avLst/>
          </a:prstGeom>
          <a:ln w="0">
            <a:noFill/>
          </a:ln>
        </p:spPr>
      </p:sp>
      <p:sp>
        <p:nvSpPr>
          <p:cNvPr id="43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Transition. We have covered what the service is; now what it is for.</a:t>
            </a:r>
            <a:endParaRPr b="0" lang="en-US" sz="2000" spc="-1" strike="noStrike">
              <a:solidFill>
                <a:srgbClr val="000000"/>
              </a:solidFill>
              <a:latin typeface="Arial"/>
            </a:endParaRPr>
          </a:p>
        </p:txBody>
      </p:sp>
      <p:sp>
        <p:nvSpPr>
          <p:cNvPr id="435" name="PlaceHolder 3"/>
          <p:cNvSpPr>
            <a:spLocks noGrp="1"/>
          </p:cNvSpPr>
          <p:nvPr>
            <p:ph type="sldNum" idx="4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3690EFD-54CE-44B5-8285-A297CA9F75C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1143000" y="685800"/>
            <a:ext cx="4571280" cy="3428280"/>
          </a:xfrm>
          <a:prstGeom prst="rect">
            <a:avLst/>
          </a:prstGeom>
          <a:ln w="0">
            <a:noFill/>
          </a:ln>
        </p:spPr>
      </p:sp>
      <p:sp>
        <p:nvSpPr>
          <p:cNvPr id="43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agent does not need to know which engine will run. It sends bytes and a</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filename; kind detection and routing happen server-side. That is deliberate —</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it keeps format knowledge out of the agent's prompt entirely.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optional hint field lets a caller say "this spreadsheet is a bill of</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materials" or "this image is a product photo". Today hints are advisory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metadata — validated, echoed as warnings if unrecognised, but they do not change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routing. That leaves room to make them behavioural later without breaking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contract.</a:t>
            </a:r>
            <a:endParaRPr b="0" lang="en-US" sz="2000" spc="-1" strike="noStrike">
              <a:solidFill>
                <a:srgbClr val="000000"/>
              </a:solidFill>
              <a:latin typeface="Arial"/>
            </a:endParaRPr>
          </a:p>
        </p:txBody>
      </p:sp>
      <p:sp>
        <p:nvSpPr>
          <p:cNvPr id="438" name="PlaceHolder 3"/>
          <p:cNvSpPr>
            <a:spLocks noGrp="1"/>
          </p:cNvSpPr>
          <p:nvPr>
            <p:ph type="sldNum" idx="4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E11E9BD-6292-4669-9618-6A3EAC0A77B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1143000" y="685800"/>
            <a:ext cx="4571280" cy="3428280"/>
          </a:xfrm>
          <a:prstGeom prst="rect">
            <a:avLst/>
          </a:prstGeom>
          <a:ln w="0">
            <a:noFill/>
          </a:ln>
        </p:spPr>
      </p:sp>
      <p:sp>
        <p:nvSpPr>
          <p:cNvPr id="44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a:t>
            </a:r>
            <a:r>
              <a:rPr b="0" lang="en-US" sz="2000" spc="-1" strike="noStrike">
                <a:solidFill>
                  <a:srgbClr val="000000"/>
                </a:solidFill>
                <a:latin typeface="Arial"/>
              </a:rPr>
              <a:t>common </a:t>
            </a:r>
            <a:r>
              <a:rPr b="0" lang="en-US" sz="2000" spc="-1" strike="noStrike">
                <a:solidFill>
                  <a:srgbClr val="000000"/>
                </a:solidFill>
                <a:latin typeface="Arial"/>
              </a:rPr>
              <a:t>thread: </a:t>
            </a:r>
            <a:r>
              <a:rPr b="0" lang="en-US" sz="2000" spc="-1" strike="noStrike">
                <a:solidFill>
                  <a:srgbClr val="000000"/>
                </a:solidFill>
                <a:latin typeface="Arial"/>
              </a:rPr>
              <a:t>in every </a:t>
            </a:r>
            <a:r>
              <a:rPr b="0" lang="en-US" sz="2000" spc="-1" strike="noStrike">
                <a:solidFill>
                  <a:srgbClr val="000000"/>
                </a:solidFill>
                <a:latin typeface="Arial"/>
              </a:rPr>
              <a:t>one of </a:t>
            </a:r>
            <a:r>
              <a:rPr b="0" lang="en-US" sz="2000" spc="-1" strike="noStrike">
                <a:solidFill>
                  <a:srgbClr val="000000"/>
                </a:solidFill>
                <a:latin typeface="Arial"/>
              </a:rPr>
              <a:t>these, </a:t>
            </a:r>
            <a:r>
              <a:rPr b="0" lang="en-US" sz="2000" spc="-1" strike="noStrike">
                <a:solidFill>
                  <a:srgbClr val="000000"/>
                </a:solidFill>
                <a:latin typeface="Arial"/>
              </a:rPr>
              <a:t>the </a:t>
            </a:r>
            <a:r>
              <a:rPr b="0" lang="en-US" sz="2000" spc="-1" strike="noStrike">
                <a:solidFill>
                  <a:srgbClr val="000000"/>
                </a:solidFill>
                <a:latin typeface="Arial"/>
              </a:rPr>
              <a:t>model is </a:t>
            </a:r>
            <a:r>
              <a:rPr b="0" lang="en-US" sz="2000" spc="-1" strike="noStrike">
                <a:solidFill>
                  <a:srgbClr val="000000"/>
                </a:solidFill>
                <a:latin typeface="Arial"/>
              </a:rPr>
              <a:t>not the </a:t>
            </a:r>
            <a:r>
              <a:rPr b="0" lang="en-US" sz="2000" spc="-1" strike="noStrike">
                <a:solidFill>
                  <a:srgbClr val="000000"/>
                </a:solidFill>
                <a:latin typeface="Arial"/>
              </a:rPr>
              <a:t>bottlene</a:t>
            </a:r>
            <a:r>
              <a:rPr b="0" lang="en-US" sz="2000" spc="-1" strike="noStrike">
                <a:solidFill>
                  <a:srgbClr val="000000"/>
                </a:solidFill>
                <a:latin typeface="Arial"/>
              </a:rPr>
              <a:t>ck. A</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frontier </a:t>
            </a:r>
            <a:r>
              <a:rPr b="0" lang="en-US" sz="2000" spc="-1" strike="noStrike">
                <a:solidFill>
                  <a:srgbClr val="000000"/>
                </a:solidFill>
                <a:latin typeface="Arial"/>
              </a:rPr>
              <a:t>model </a:t>
            </a:r>
            <a:r>
              <a:rPr b="0" lang="en-US" sz="2000" spc="-1" strike="noStrike">
                <a:solidFill>
                  <a:srgbClr val="000000"/>
                </a:solidFill>
                <a:latin typeface="Arial"/>
              </a:rPr>
              <a:t>can </a:t>
            </a:r>
            <a:r>
              <a:rPr b="0" lang="en-US" sz="2000" spc="-1" strike="noStrike">
                <a:solidFill>
                  <a:srgbClr val="000000"/>
                </a:solidFill>
                <a:latin typeface="Arial"/>
              </a:rPr>
              <a:t>already </a:t>
            </a:r>
            <a:r>
              <a:rPr b="0" lang="en-US" sz="2000" spc="-1" strike="noStrike">
                <a:solidFill>
                  <a:srgbClr val="000000"/>
                </a:solidFill>
                <a:latin typeface="Arial"/>
              </a:rPr>
              <a:t>reconcil</a:t>
            </a:r>
            <a:r>
              <a:rPr b="0" lang="en-US" sz="2000" spc="-1" strike="noStrike">
                <a:solidFill>
                  <a:srgbClr val="000000"/>
                </a:solidFill>
                <a:latin typeface="Arial"/>
              </a:rPr>
              <a:t>e two </a:t>
            </a:r>
            <a:r>
              <a:rPr b="0" lang="en-US" sz="2000" spc="-1" strike="noStrike">
                <a:solidFill>
                  <a:srgbClr val="000000"/>
                </a:solidFill>
                <a:latin typeface="Arial"/>
              </a:rPr>
              <a:t>bills of </a:t>
            </a:r>
            <a:r>
              <a:rPr b="0" lang="en-US" sz="2000" spc="-1" strike="noStrike">
                <a:solidFill>
                  <a:srgbClr val="000000"/>
                </a:solidFill>
                <a:latin typeface="Arial"/>
              </a:rPr>
              <a:t>material</a:t>
            </a:r>
            <a:r>
              <a:rPr b="0" lang="en-US" sz="2000" spc="-1" strike="noStrike">
                <a:solidFill>
                  <a:srgbClr val="000000"/>
                </a:solidFill>
                <a:latin typeface="Arial"/>
              </a:rPr>
              <a:t>s. It </a:t>
            </a:r>
            <a:r>
              <a:rPr b="0" lang="en-US" sz="2000" spc="-1" strike="noStrike">
                <a:solidFill>
                  <a:srgbClr val="000000"/>
                </a:solidFill>
                <a:latin typeface="Arial"/>
              </a:rPr>
              <a:t>simply </a:t>
            </a:r>
            <a:r>
              <a:rPr b="0" lang="en-US" sz="2000" spc="-1" strike="noStrike">
                <a:solidFill>
                  <a:srgbClr val="000000"/>
                </a:solidFill>
                <a:latin typeface="Arial"/>
              </a:rPr>
              <a:t>cannot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open </a:t>
            </a:r>
            <a:r>
              <a:rPr b="0" lang="en-US" sz="2000" spc="-1" strike="noStrike">
                <a:solidFill>
                  <a:srgbClr val="000000"/>
                </a:solidFill>
                <a:latin typeface="Arial"/>
              </a:rPr>
              <a:t>the file.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Worth </a:t>
            </a:r>
            <a:r>
              <a:rPr b="0" lang="en-US" sz="2000" spc="-1" strike="noStrike">
                <a:solidFill>
                  <a:srgbClr val="000000"/>
                </a:solidFill>
                <a:latin typeface="Arial"/>
              </a:rPr>
              <a:t>saying </a:t>
            </a:r>
            <a:r>
              <a:rPr b="0" lang="en-US" sz="2000" spc="-1" strike="noStrike">
                <a:solidFill>
                  <a:srgbClr val="000000"/>
                </a:solidFill>
                <a:latin typeface="Arial"/>
              </a:rPr>
              <a:t>explicitly </a:t>
            </a:r>
            <a:r>
              <a:rPr b="0" lang="en-US" sz="2000" spc="-1" strike="noStrike">
                <a:solidFill>
                  <a:srgbClr val="000000"/>
                </a:solidFill>
                <a:latin typeface="Arial"/>
              </a:rPr>
              <a:t>if asked </a:t>
            </a:r>
            <a:r>
              <a:rPr b="0" lang="en-US" sz="2000" spc="-1" strike="noStrike">
                <a:solidFill>
                  <a:srgbClr val="000000"/>
                </a:solidFill>
                <a:latin typeface="Arial"/>
              </a:rPr>
              <a:t>about </a:t>
            </a:r>
            <a:r>
              <a:rPr b="0" lang="en-US" sz="2000" spc="-1" strike="noStrike">
                <a:solidFill>
                  <a:srgbClr val="000000"/>
                </a:solidFill>
                <a:latin typeface="Arial"/>
              </a:rPr>
              <a:t>scope: </a:t>
            </a:r>
            <a:r>
              <a:rPr b="0" lang="en-US" sz="2000" spc="-1" strike="noStrike">
                <a:solidFill>
                  <a:srgbClr val="000000"/>
                </a:solidFill>
                <a:latin typeface="Arial"/>
              </a:rPr>
              <a:t>this is </a:t>
            </a:r>
            <a:r>
              <a:rPr b="0" lang="en-US" sz="2000" spc="-1" strike="noStrike">
                <a:solidFill>
                  <a:srgbClr val="000000"/>
                </a:solidFill>
                <a:latin typeface="Arial"/>
              </a:rPr>
              <a:t>not a </a:t>
            </a:r>
            <a:r>
              <a:rPr b="0" lang="en-US" sz="2000" spc="-1" strike="noStrike">
                <a:solidFill>
                  <a:srgbClr val="000000"/>
                </a:solidFill>
                <a:latin typeface="Arial"/>
              </a:rPr>
              <a:t>RAG </a:t>
            </a:r>
            <a:r>
              <a:rPr b="0" lang="en-US" sz="2000" spc="-1" strike="noStrike">
                <a:solidFill>
                  <a:srgbClr val="000000"/>
                </a:solidFill>
                <a:latin typeface="Arial"/>
              </a:rPr>
              <a:t>system, </a:t>
            </a:r>
            <a:r>
              <a:rPr b="0" lang="en-US" sz="2000" spc="-1" strike="noStrike">
                <a:solidFill>
                  <a:srgbClr val="000000"/>
                </a:solidFill>
                <a:latin typeface="Arial"/>
              </a:rPr>
              <a:t>not a</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vector </a:t>
            </a:r>
            <a:r>
              <a:rPr b="0" lang="en-US" sz="2000" spc="-1" strike="noStrike">
                <a:solidFill>
                  <a:srgbClr val="000000"/>
                </a:solidFill>
                <a:latin typeface="Arial"/>
              </a:rPr>
              <a:t>store </a:t>
            </a:r>
            <a:r>
              <a:rPr b="0" lang="en-US" sz="2000" spc="-1" strike="noStrike">
                <a:solidFill>
                  <a:srgbClr val="000000"/>
                </a:solidFill>
                <a:latin typeface="Arial"/>
              </a:rPr>
              <a:t>and not </a:t>
            </a:r>
            <a:r>
              <a:rPr b="0" lang="en-US" sz="2000" spc="-1" strike="noStrike">
                <a:solidFill>
                  <a:srgbClr val="000000"/>
                </a:solidFill>
                <a:latin typeface="Arial"/>
              </a:rPr>
              <a:t>a </a:t>
            </a:r>
            <a:r>
              <a:rPr b="0" lang="en-US" sz="2000" spc="-1" strike="noStrike">
                <a:solidFill>
                  <a:srgbClr val="000000"/>
                </a:solidFill>
                <a:latin typeface="Arial"/>
              </a:rPr>
              <a:t>docume</a:t>
            </a:r>
            <a:r>
              <a:rPr b="0" lang="en-US" sz="2000" spc="-1" strike="noStrike">
                <a:solidFill>
                  <a:srgbClr val="000000"/>
                </a:solidFill>
                <a:latin typeface="Arial"/>
              </a:rPr>
              <a:t>nt </a:t>
            </a:r>
            <a:r>
              <a:rPr b="0" lang="en-US" sz="2000" spc="-1" strike="noStrike">
                <a:solidFill>
                  <a:srgbClr val="000000"/>
                </a:solidFill>
                <a:latin typeface="Arial"/>
              </a:rPr>
              <a:t>archive. </a:t>
            </a:r>
            <a:r>
              <a:rPr b="0" lang="en-US" sz="2000" spc="-1" strike="noStrike">
                <a:solidFill>
                  <a:srgbClr val="000000"/>
                </a:solidFill>
                <a:latin typeface="Arial"/>
              </a:rPr>
              <a:t>It has no </a:t>
            </a:r>
            <a:r>
              <a:rPr b="0" lang="en-US" sz="2000" spc="-1" strike="noStrike">
                <a:solidFill>
                  <a:srgbClr val="000000"/>
                </a:solidFill>
                <a:latin typeface="Arial"/>
              </a:rPr>
              <a:t>memory </a:t>
            </a:r>
            <a:r>
              <a:rPr b="0" lang="en-US" sz="2000" spc="-1" strike="noStrike">
                <a:solidFill>
                  <a:srgbClr val="000000"/>
                </a:solidFill>
                <a:latin typeface="Arial"/>
              </a:rPr>
              <a:t>of </a:t>
            </a:r>
            <a:r>
              <a:rPr b="0" lang="en-US" sz="2000" spc="-1" strike="noStrike">
                <a:solidFill>
                  <a:srgbClr val="000000"/>
                </a:solidFill>
                <a:latin typeface="Arial"/>
              </a:rPr>
              <a:t>anything </a:t>
            </a:r>
            <a:r>
              <a:rPr b="0" lang="en-US" sz="2000" spc="-1" strike="noStrike">
                <a:solidFill>
                  <a:srgbClr val="000000"/>
                </a:solidFill>
                <a:latin typeface="Arial"/>
              </a:rPr>
              <a:t>it has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process</a:t>
            </a:r>
            <a:r>
              <a:rPr b="0" lang="en-US" sz="2000" spc="-1" strike="noStrike">
                <a:solidFill>
                  <a:srgbClr val="000000"/>
                </a:solidFill>
                <a:latin typeface="Arial"/>
              </a:rPr>
              <a:t>ed. It is </a:t>
            </a:r>
            <a:r>
              <a:rPr b="0" lang="en-US" sz="2000" spc="-1" strike="noStrike">
                <a:solidFill>
                  <a:srgbClr val="000000"/>
                </a:solidFill>
                <a:latin typeface="Arial"/>
              </a:rPr>
              <a:t>the </a:t>
            </a:r>
            <a:r>
              <a:rPr b="0" lang="en-US" sz="2000" spc="-1" strike="noStrike">
                <a:solidFill>
                  <a:srgbClr val="000000"/>
                </a:solidFill>
                <a:latin typeface="Arial"/>
              </a:rPr>
              <a:t>ingestio</a:t>
            </a:r>
            <a:r>
              <a:rPr b="0" lang="en-US" sz="2000" spc="-1" strike="noStrike">
                <a:solidFill>
                  <a:srgbClr val="000000"/>
                </a:solidFill>
                <a:latin typeface="Arial"/>
              </a:rPr>
              <a:t>n step </a:t>
            </a:r>
            <a:r>
              <a:rPr b="0" lang="en-US" sz="2000" spc="-1" strike="noStrike">
                <a:solidFill>
                  <a:srgbClr val="000000"/>
                </a:solidFill>
                <a:latin typeface="Arial"/>
              </a:rPr>
              <a:t>that sits </a:t>
            </a:r>
            <a:r>
              <a:rPr b="0" lang="en-US" sz="2000" spc="-1" strike="noStrike">
                <a:solidFill>
                  <a:srgbClr val="000000"/>
                </a:solidFill>
                <a:latin typeface="Arial"/>
              </a:rPr>
              <a:t>in front </a:t>
            </a:r>
            <a:r>
              <a:rPr b="0" lang="en-US" sz="2000" spc="-1" strike="noStrike">
                <a:solidFill>
                  <a:srgbClr val="000000"/>
                </a:solidFill>
                <a:latin typeface="Arial"/>
              </a:rPr>
              <a:t>of </a:t>
            </a:r>
            <a:r>
              <a:rPr b="0" lang="en-US" sz="2000" spc="-1" strike="noStrike">
                <a:solidFill>
                  <a:srgbClr val="000000"/>
                </a:solidFill>
                <a:latin typeface="Arial"/>
              </a:rPr>
              <a:t>whateve</a:t>
            </a:r>
            <a:r>
              <a:rPr b="0" lang="en-US" sz="2000" spc="-1" strike="noStrike">
                <a:solidFill>
                  <a:srgbClr val="000000"/>
                </a:solidFill>
                <a:latin typeface="Arial"/>
              </a:rPr>
              <a:t>r you </a:t>
            </a:r>
            <a:r>
              <a:rPr b="0" lang="en-US" sz="2000" spc="-1" strike="noStrike">
                <a:solidFill>
                  <a:srgbClr val="000000"/>
                </a:solidFill>
                <a:latin typeface="Arial"/>
              </a:rPr>
              <a:t>build.</a:t>
            </a:r>
            <a:endParaRPr b="0" lang="en-US" sz="2000" spc="-1" strike="noStrike">
              <a:solidFill>
                <a:srgbClr val="000000"/>
              </a:solidFill>
              <a:latin typeface="Arial"/>
            </a:endParaRPr>
          </a:p>
        </p:txBody>
      </p:sp>
      <p:sp>
        <p:nvSpPr>
          <p:cNvPr id="441" name="PlaceHolder 3"/>
          <p:cNvSpPr>
            <a:spLocks noGrp="1"/>
          </p:cNvSpPr>
          <p:nvPr>
            <p:ph type="sldNum" idx="4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110DCBA-80CF-4E2A-971F-468D976B347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1143000" y="685800"/>
            <a:ext cx="4571280" cy="3428280"/>
          </a:xfrm>
          <a:prstGeom prst="rect">
            <a:avLst/>
          </a:prstGeom>
          <a:ln w="0">
            <a:noFill/>
          </a:ln>
        </p:spPr>
      </p:sp>
      <p:sp>
        <p:nvSpPr>
          <p:cNvPr id="44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This is the strongest technical claim in the deck — worth slowing down for.</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spreadsheet stores a number once and displays it many ways. Anything that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reads the *rendered* text inherits the display format: thousands separators,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currency symbols, a comma decimal mark, a rounded display of a more precise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value. An agent then has to reverse that transformation, and it will sometimes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get it wrong without any signal that it did.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Reading the stored value skips the entire problem. Formula cells return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cached computed result, not the formula text. Date-styled cells are converted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from their serial number to ISO-8601 rather than passed through in whatever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regional format the author happened to use.</a:t>
            </a:r>
            <a:endParaRPr b="0" lang="en-US" sz="2000" spc="-1" strike="noStrike">
              <a:solidFill>
                <a:srgbClr val="000000"/>
              </a:solidFill>
              <a:latin typeface="Arial"/>
            </a:endParaRPr>
          </a:p>
        </p:txBody>
      </p:sp>
      <p:sp>
        <p:nvSpPr>
          <p:cNvPr id="444" name="PlaceHolder 3"/>
          <p:cNvSpPr>
            <a:spLocks noGrp="1"/>
          </p:cNvSpPr>
          <p:nvPr>
            <p:ph type="sldNum" idx="4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6F7956A-4BAA-44D8-B1A7-DD5D541DE55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1143000" y="685800"/>
            <a:ext cx="4571280" cy="3428280"/>
          </a:xfrm>
          <a:prstGeom prst="rect">
            <a:avLst/>
          </a:prstGeom>
          <a:ln w="0">
            <a:noFill/>
          </a:ln>
        </p:spPr>
      </p:sp>
      <p:sp>
        <p:nvSpPr>
          <p:cNvPr id="44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Contrast with the obvious alternative: an all-or-nothing endpoint that 400s or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500s when any file is bad. Under that design an agent handed ten good files and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one corrupt one gets nothing, cannot tell which file was at fault, and its only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recovery is to retry the whole batch or bisect it.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engine_unconfigured is worth calling out — it is what makes staged rollout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workable. The service boots and serves health checks with no cloud credentials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all; only the file kinds that need a missing dependency fail, and they fail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with a code that says exactly that. Spreadsheets keep working regardless,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because that path makes no network call.</a:t>
            </a:r>
            <a:endParaRPr b="0" lang="en-US" sz="2000" spc="-1" strike="noStrike">
              <a:solidFill>
                <a:srgbClr val="000000"/>
              </a:solidFill>
              <a:latin typeface="Arial"/>
            </a:endParaRPr>
          </a:p>
        </p:txBody>
      </p:sp>
      <p:sp>
        <p:nvSpPr>
          <p:cNvPr id="447" name="PlaceHolder 3"/>
          <p:cNvSpPr>
            <a:spLocks noGrp="1"/>
          </p:cNvSpPr>
          <p:nvPr>
            <p:ph type="sldNum" idx="4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F4F4728-B4B0-422F-B930-062D98E7CAF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1143000" y="685800"/>
            <a:ext cx="4571280" cy="3428280"/>
          </a:xfrm>
          <a:prstGeom prst="rect">
            <a:avLst/>
          </a:prstGeom>
          <a:ln w="0">
            <a:noFill/>
          </a:ln>
        </p:spPr>
      </p:sp>
      <p:sp>
        <p:nvSpPr>
          <p:cNvPr id="44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Statelessness has one honest caveat worth knowing if it comes up: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spreadsheet path opens the workbook from memory, but the underlying packaging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library spills package parts to a transient temp file. That file is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request-scoped and discarded, so the guarantee holds — nothing is persisted and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nothing outlives the request — but the process does require a writable temp</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directory. Worth stating precisely: "never touches disk" is the kind of shorthand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that leads to a container hardened with a read-only root and no writable temp,</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which breaks every spreadsheet request. A deployment-time check guards it.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log redaction rule is verified, not asserted: a test runs real fixture files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through the service, captures the logs, and fails if any known content string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from those files appears.</a:t>
            </a:r>
            <a:endParaRPr b="0" lang="en-US" sz="2000" spc="-1" strike="noStrike">
              <a:solidFill>
                <a:srgbClr val="000000"/>
              </a:solidFill>
              <a:latin typeface="Arial"/>
            </a:endParaRPr>
          </a:p>
        </p:txBody>
      </p:sp>
      <p:sp>
        <p:nvSpPr>
          <p:cNvPr id="450" name="PlaceHolder 3"/>
          <p:cNvSpPr>
            <a:spLocks noGrp="1"/>
          </p:cNvSpPr>
          <p:nvPr>
            <p:ph type="sldNum" idx="4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C8EDA49-8C4E-4C99-A2FB-0205B898C59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1143000" y="685800"/>
            <a:ext cx="4571280" cy="3428280"/>
          </a:xfrm>
          <a:prstGeom prst="rect">
            <a:avLst/>
          </a:prstGeom>
          <a:ln w="0">
            <a:noFill/>
          </a:ln>
        </p:spPr>
      </p:sp>
      <p:sp>
        <p:nvSpPr>
          <p:cNvPr id="45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Transition into the technical half. Three engines, one interface.</a:t>
            </a:r>
            <a:endParaRPr b="0" lang="en-US" sz="2000" spc="-1" strike="noStrike">
              <a:solidFill>
                <a:srgbClr val="000000"/>
              </a:solidFill>
              <a:latin typeface="Arial"/>
            </a:endParaRPr>
          </a:p>
        </p:txBody>
      </p:sp>
      <p:sp>
        <p:nvSpPr>
          <p:cNvPr id="453" name="PlaceHolder 3"/>
          <p:cNvSpPr>
            <a:spLocks noGrp="1"/>
          </p:cNvSpPr>
          <p:nvPr>
            <p:ph type="sldNum" idx="4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AFC6672-86E1-419D-98DF-C183A78CD3C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1143000" y="685800"/>
            <a:ext cx="4571280" cy="3428280"/>
          </a:xfrm>
          <a:prstGeom prst="rect">
            <a:avLst/>
          </a:prstGeom>
          <a:ln w="0">
            <a:noFill/>
          </a:ln>
        </p:spPr>
      </p:sp>
      <p:sp>
        <p:nvSpPr>
          <p:cNvPr id="45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seam that matters is the engine interface: declare which kinds you handle,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accept a file, return a result. That is the whole contract.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Because the router owns the per-file timeout and the catch-all exception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handler, an engine author cannot forget either one, and cannot accidentally let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an exception message carrying document content escape into a response.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Cloud dependencies sit behind two thin adapter interfaces rather than being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called directly from the engines. That is both the test seam — the whole HTTP</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pipeline runs in tests with fakes injected — and the credential seam, where key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versus managed-identity authentication is decided.</a:t>
            </a:r>
            <a:endParaRPr b="0" lang="en-US" sz="2000" spc="-1" strike="noStrike">
              <a:solidFill>
                <a:srgbClr val="000000"/>
              </a:solidFill>
              <a:latin typeface="Arial"/>
            </a:endParaRPr>
          </a:p>
        </p:txBody>
      </p:sp>
      <p:sp>
        <p:nvSpPr>
          <p:cNvPr id="456" name="PlaceHolder 3"/>
          <p:cNvSpPr>
            <a:spLocks noGrp="1"/>
          </p:cNvSpPr>
          <p:nvPr>
            <p:ph type="sldNum" idx="4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109F6B1-F91E-4A6B-8C49-4012A740BC2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1143000" y="685800"/>
            <a:ext cx="4571280" cy="3428280"/>
          </a:xfrm>
          <a:prstGeom prst="rect">
            <a:avLst/>
          </a:prstGeom>
          <a:ln w="0">
            <a:noFill/>
          </a:ln>
        </p:spPr>
      </p:sp>
      <p:sp>
        <p:nvSpPr>
          <p:cNvPr id="45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Trusting the declared content type is the classic mistake here. Browsers, HTTP</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clients and users all get it wrong routinely — an .xlsx sent as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application/octet-stream, a .png named .jpg, a PDF renamed to .docx.</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interesting case is the ZIP container. DOCX, XLSX and PPTX are all ZIP</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archives, so the PK signature alone cannot separate them. Rather than unzip and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inspect the internal part names, the detector falls back to the declared content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type and then the extension — cheap, and correct in practice because the caller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has no incentive to lie about which Office format it is sending.</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Both the routing decision and the warning are covered by unit tests; this is one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of the most thoroughly tested pieces of the service relative to its size.</a:t>
            </a:r>
            <a:endParaRPr b="0" lang="en-US" sz="2000" spc="-1" strike="noStrike">
              <a:solidFill>
                <a:srgbClr val="000000"/>
              </a:solidFill>
              <a:latin typeface="Arial"/>
            </a:endParaRPr>
          </a:p>
        </p:txBody>
      </p:sp>
      <p:sp>
        <p:nvSpPr>
          <p:cNvPr id="459" name="PlaceHolder 3"/>
          <p:cNvSpPr>
            <a:spLocks noGrp="1"/>
          </p:cNvSpPr>
          <p:nvPr>
            <p:ph type="sldNum" idx="4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E553439-A77C-48EC-A4CA-24C53756DEF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1143000" y="685800"/>
            <a:ext cx="4571280" cy="3428280"/>
          </a:xfrm>
          <a:prstGeom prst="rect">
            <a:avLst/>
          </a:prstGeom>
          <a:ln w="0">
            <a:noFill/>
          </a:ln>
        </p:spPr>
      </p:sp>
      <p:sp>
        <p:nvSpPr>
          <p:cNvPr id="46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If someone asks why spreadsheets are not simply sent to the layout model: they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can be, and it works, and the numbers come back as formatted display strings.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That is precisely the failure discussed earlier. The dedicated path exists to</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avoid it.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three engines also have very different cost and latency profiles.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spreadsheet path is pure in-process compute — no network call, milliseconds.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other two are network round-trips to cloud models and dominate request latency.</a:t>
            </a:r>
            <a:endParaRPr b="0" lang="en-US" sz="2000" spc="-1" strike="noStrike">
              <a:solidFill>
                <a:srgbClr val="000000"/>
              </a:solidFill>
              <a:latin typeface="Arial"/>
            </a:endParaRPr>
          </a:p>
        </p:txBody>
      </p:sp>
      <p:sp>
        <p:nvSpPr>
          <p:cNvPr id="462" name="PlaceHolder 3"/>
          <p:cNvSpPr>
            <a:spLocks noGrp="1"/>
          </p:cNvSpPr>
          <p:nvPr>
            <p:ph type="sldNum" idx="5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7CEF903-3A06-4F0D-9938-D418359D166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1143000" y="685800"/>
            <a:ext cx="4571280" cy="3428280"/>
          </a:xfrm>
          <a:prstGeom prst="rect">
            <a:avLst/>
          </a:prstGeom>
          <a:ln w="0">
            <a:noFill/>
          </a:ln>
        </p:spPr>
      </p:sp>
      <p:sp>
        <p:nvSpPr>
          <p:cNvPr id="46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engine itself is around thirty lines. That is the point — almost all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difficulty lives in the model, and the service's job is to route to it, bound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it, and translate its failures into the per-file error vocabulary.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Page count returned by the model feeds the throughput metric, which is how</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per-page cost is tracked in production.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Worth noting for anyone who has built this before: asking the model for Markdown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rather than its structured coordinate output is a deliberate simplification.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structured form is richer, but reassembling it into something a language model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reads well is exactly the work we are trying not to do.</a:t>
            </a:r>
            <a:endParaRPr b="0" lang="en-US" sz="2000" spc="-1" strike="noStrike">
              <a:solidFill>
                <a:srgbClr val="000000"/>
              </a:solidFill>
              <a:latin typeface="Arial"/>
            </a:endParaRPr>
          </a:p>
        </p:txBody>
      </p:sp>
      <p:sp>
        <p:nvSpPr>
          <p:cNvPr id="465" name="PlaceHolder 3"/>
          <p:cNvSpPr>
            <a:spLocks noGrp="1"/>
          </p:cNvSpPr>
          <p:nvPr>
            <p:ph type="sldNum" idx="5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2089CD7-33FB-41E2-8059-E22D73F4647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1143000" y="685800"/>
            <a:ext cx="4571280" cy="3428280"/>
          </a:xfrm>
          <a:prstGeom prst="rect">
            <a:avLst/>
          </a:prstGeom>
          <a:ln w="0">
            <a:noFill/>
          </a:ln>
        </p:spPr>
      </p:sp>
      <p:sp>
        <p:nvSpPr>
          <p:cNvPr id="46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Implementation details worth having ready, all in the source: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Date detection works off the style index: number-format IDs 14-22 and 45-47 are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the built-in date and time formats, so a cell carrying one of those styles is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read as a date serial rather than a bare number.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Very large values overflow decimal at roughly 7.9e28; those fall back to double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when finite, and to raw text when not, because a non-finite double cannot be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serialised as JSON at all.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Interior blank rows are preserved so section gaps survive, but the row index in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the file is untrusted input — a crafted index delta would otherwise allocate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billions of rows. Synthesis is capped at 4096 rows per sheet, with a warning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when the cap is hit.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Pipe characters are escaped and embedded newlines folded when rendering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Markdown, because a raw newline inside a table row corrupts the whole table.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golden-file test for this engine asserts numeric fidelity cell by cell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against a committed fixture workbook, and runs entirely offline.</a:t>
            </a:r>
            <a:endParaRPr b="0" lang="en-US" sz="2000" spc="-1" strike="noStrike">
              <a:solidFill>
                <a:srgbClr val="000000"/>
              </a:solidFill>
              <a:latin typeface="Arial"/>
            </a:endParaRPr>
          </a:p>
        </p:txBody>
      </p:sp>
      <p:sp>
        <p:nvSpPr>
          <p:cNvPr id="468" name="PlaceHolder 3"/>
          <p:cNvSpPr>
            <a:spLocks noGrp="1"/>
          </p:cNvSpPr>
          <p:nvPr>
            <p:ph type="sldNum" idx="5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2878095-D5FB-4EB8-A622-96E6358E116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1143000" y="685800"/>
            <a:ext cx="4571280" cy="3428280"/>
          </a:xfrm>
          <a:prstGeom prst="rect">
            <a:avLst/>
          </a:prstGeom>
          <a:ln w="0">
            <a:noFill/>
          </a:ln>
        </p:spPr>
      </p:sp>
      <p:sp>
        <p:nvSpPr>
          <p:cNvPr id="47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prompt, close to verbatim: describe the photograph for a document record;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list only what is directly visible — objects, text, markings, labels, symbols,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materials, colours, quantities; transcribe visible text and codes exactly as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printed; do not identify categories, do not infer purpose or status, do not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assert anything not visible; output plain text.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reason it is pinned in code rather than exposed as configuration: a prompt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that can be edited per environment is a prompt that will quietly diverge, and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then the same photograph produces different descriptions in test and in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production with nothing in the diff to show why.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snapshot test is doing real work. It means loosening the guardrail into</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classification language is not something that can happen by accident.</a:t>
            </a:r>
            <a:endParaRPr b="0" lang="en-US" sz="2000" spc="-1" strike="noStrike">
              <a:solidFill>
                <a:srgbClr val="000000"/>
              </a:solidFill>
              <a:latin typeface="Arial"/>
            </a:endParaRPr>
          </a:p>
        </p:txBody>
      </p:sp>
      <p:sp>
        <p:nvSpPr>
          <p:cNvPr id="471" name="PlaceHolder 3"/>
          <p:cNvSpPr>
            <a:spLocks noGrp="1"/>
          </p:cNvSpPr>
          <p:nvPr>
            <p:ph type="sldNum" idx="5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7636E26-68BD-49C5-8BB5-83603A03787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1143000" y="685800"/>
            <a:ext cx="4571280" cy="3428280"/>
          </a:xfrm>
          <a:prstGeom prst="rect">
            <a:avLst/>
          </a:prstGeom>
          <a:ln w="0">
            <a:noFill/>
          </a:ln>
        </p:spPr>
      </p:sp>
      <p:sp>
        <p:nvSpPr>
          <p:cNvPr id="47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metric worth explaining if asked: duplicate submissions. It counts repeated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files both within a single request, where the count is exact, and across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requests seen by the same instance, where it is a lower bound only — because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requests are load-balanced across replicas, a repeat lands on the instance that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saw it before only some of the time. That caveat is written into the metric's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own description so a dashboard author cannot miss it.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Load shedding is deliberately distinguished from rejection. A rejected request is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malformed and will never succeed. A shed request is well-formed and retryable —</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different signal, different metric, different caller behaviour.</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Testing has three offline layers plus one gated live layer: unit tests for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detection and validation, HTTP contract tests running the real pipeline with the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cloud clients faked, golden-file tests proving spreadsheet numeric fidelity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offline, and an environment-gated suite that runs every fixture through the real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models.</a:t>
            </a:r>
            <a:endParaRPr b="0" lang="en-US" sz="2000" spc="-1" strike="noStrike">
              <a:solidFill>
                <a:srgbClr val="000000"/>
              </a:solidFill>
              <a:latin typeface="Arial"/>
            </a:endParaRPr>
          </a:p>
        </p:txBody>
      </p:sp>
      <p:sp>
        <p:nvSpPr>
          <p:cNvPr id="474" name="PlaceHolder 3"/>
          <p:cNvSpPr>
            <a:spLocks noGrp="1"/>
          </p:cNvSpPr>
          <p:nvPr>
            <p:ph type="sldNum" idx="5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EFC50E7-14BA-49EB-B670-EBEF647DECD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1143000" y="685800"/>
            <a:ext cx="4571280" cy="3428280"/>
          </a:xfrm>
          <a:prstGeom prst="rect">
            <a:avLst/>
          </a:prstGeom>
          <a:ln w="0">
            <a:noFill/>
          </a:ln>
        </p:spPr>
      </p:sp>
      <p:sp>
        <p:nvSpPr>
          <p:cNvPr id="47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Close on the first and the fourth points if time is short — they are the two that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change how a listener thinks about the problem.</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Likely questions: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Why not one library per format instead of a cloud model? Reading order, table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recovery and OCR are each a multi-year problem and none of them differentiate.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Why not send spreadsheets through the layout model too? Because the numbers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come back rendered, and that is the exact failure the dedicated path exists to</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prevent.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Is this a RAG system? No. It is stateless and has no memory of anything it has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processed. It is the ingestion step in front of whatever you build.</a:t>
            </a:r>
            <a:endParaRPr b="0" lang="en-US" sz="2000" spc="-1" strike="noStrike">
              <a:solidFill>
                <a:srgbClr val="000000"/>
              </a:solidFill>
              <a:latin typeface="Arial"/>
            </a:endParaRPr>
          </a:p>
        </p:txBody>
      </p:sp>
      <p:sp>
        <p:nvSpPr>
          <p:cNvPr id="477" name="PlaceHolder 3"/>
          <p:cNvSpPr>
            <a:spLocks noGrp="1"/>
          </p:cNvSpPr>
          <p:nvPr>
            <p:ph type="sldNum" idx="5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4221C88-1033-4507-B7CB-1986991574A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1735DB6-1AEF-409E-986C-F91918947FC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161C636E-97BA-4B07-9804-315440421710}"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507CF5E-70C1-4785-9264-C2BDA74359BC}"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4EBDE9C1-0148-4886-8BA2-AE23B9425AAE}"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EABB3E1F-4D15-4CC2-968D-9DAD99BDA82C}"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61961077-8ED1-485D-95C8-034E50BDA359}"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429BDE93-C5BD-4055-8F23-DA34F80E5226}"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BE7F61C0-EB68-4689-9959-0918A5563776}"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DCABA1F0-7465-4D32-B72C-557372B5FE62}"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A8D14A5C-E851-4E23-B2F4-CFEFDEDC2EEC}"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28D40934-CF10-43C5-8B97-D36CF76A2796}"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F633B95-2837-4332-B138-70A800E9D82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6E33701-E139-4945-A992-1D929D2723B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C15D4CB-7A87-43B1-9DBB-EA07A103E00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609480" y="1604520"/>
            <a:ext cx="109717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65CC30C-DC34-43DC-A0CC-38EEE2FB0AE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EE86B2E-9CF1-4DD4-8CE2-2BC38055198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B22836D-417A-402F-BBB7-385714666E9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CCF54A1-F3F0-40D6-AD59-E0DB0A8C778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26A62B6-B3D9-4E96-AD6B-E4977D90F01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AD7D856-BCCC-4461-AA86-64BEF29DC88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C2D0F27-72D4-47FA-B006-821650010D8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60CDAF0-F111-4B04-BCBC-B1C6D27B490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Rectangle 1"/>
          <p:cNvSpPr/>
          <p:nvPr/>
        </p:nvSpPr>
        <p:spPr>
          <a:xfrm>
            <a:off x="0" y="0"/>
            <a:ext cx="12191040" cy="6857280"/>
          </a:xfrm>
          <a:prstGeom prst="rect">
            <a:avLst/>
          </a:prstGeom>
          <a:solidFill>
            <a:srgbClr val="0b12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 name="Rectangle 2"/>
          <p:cNvSpPr/>
          <p:nvPr/>
        </p:nvSpPr>
        <p:spPr>
          <a:xfrm>
            <a:off x="0" y="0"/>
            <a:ext cx="273600" cy="685728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8" name="Rectangle 3"/>
          <p:cNvSpPr/>
          <p:nvPr/>
        </p:nvSpPr>
        <p:spPr>
          <a:xfrm>
            <a:off x="7985520" y="0"/>
            <a:ext cx="4205520" cy="6857280"/>
          </a:xfrm>
          <a:prstGeom prst="rect">
            <a:avLst/>
          </a:prstGeom>
          <a:solidFill>
            <a:srgbClr val="17244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 name="Rounded Rectangle 4"/>
          <p:cNvSpPr/>
          <p:nvPr/>
        </p:nvSpPr>
        <p:spPr>
          <a:xfrm>
            <a:off x="8579880" y="960120"/>
            <a:ext cx="1188000" cy="456480"/>
          </a:xfrm>
          <a:prstGeom prst="roundRect">
            <a:avLst>
              <a:gd name="adj" fmla="val 18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 name="TextBox 5"/>
          <p:cNvSpPr/>
          <p:nvPr/>
        </p:nvSpPr>
        <p:spPr>
          <a:xfrm>
            <a:off x="8579880" y="107892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PDF</a:t>
            </a:r>
            <a:endParaRPr b="0" lang="en-US" sz="1150" spc="-1" strike="noStrike">
              <a:solidFill>
                <a:srgbClr val="000000"/>
              </a:solidFill>
              <a:latin typeface="Arial"/>
            </a:endParaRPr>
          </a:p>
        </p:txBody>
      </p:sp>
      <p:sp>
        <p:nvSpPr>
          <p:cNvPr id="61" name="Isosceles Triangle 6"/>
          <p:cNvSpPr/>
          <p:nvPr/>
        </p:nvSpPr>
        <p:spPr>
          <a:xfrm rot="5400000">
            <a:off x="9979560" y="108828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2" name="Rectangle 7"/>
          <p:cNvSpPr/>
          <p:nvPr/>
        </p:nvSpPr>
        <p:spPr>
          <a:xfrm>
            <a:off x="10344600" y="105156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 name="Rounded Rectangle 8"/>
          <p:cNvSpPr/>
          <p:nvPr/>
        </p:nvSpPr>
        <p:spPr>
          <a:xfrm>
            <a:off x="8579880" y="1618560"/>
            <a:ext cx="1188000" cy="456480"/>
          </a:xfrm>
          <a:prstGeom prst="roundRect">
            <a:avLst>
              <a:gd name="adj" fmla="val 18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 name="TextBox 9"/>
          <p:cNvSpPr/>
          <p:nvPr/>
        </p:nvSpPr>
        <p:spPr>
          <a:xfrm>
            <a:off x="8579880" y="173736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DOCX</a:t>
            </a:r>
            <a:endParaRPr b="0" lang="en-US" sz="1150" spc="-1" strike="noStrike">
              <a:solidFill>
                <a:srgbClr val="000000"/>
              </a:solidFill>
              <a:latin typeface="Arial"/>
            </a:endParaRPr>
          </a:p>
        </p:txBody>
      </p:sp>
      <p:sp>
        <p:nvSpPr>
          <p:cNvPr id="65" name="Isosceles Triangle 10"/>
          <p:cNvSpPr/>
          <p:nvPr/>
        </p:nvSpPr>
        <p:spPr>
          <a:xfrm rot="5400000">
            <a:off x="9979560" y="174636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 name="Rectangle 11"/>
          <p:cNvSpPr/>
          <p:nvPr/>
        </p:nvSpPr>
        <p:spPr>
          <a:xfrm>
            <a:off x="10344600" y="171000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7" name="Rounded Rectangle 12"/>
          <p:cNvSpPr/>
          <p:nvPr/>
        </p:nvSpPr>
        <p:spPr>
          <a:xfrm>
            <a:off x="8579880" y="2277000"/>
            <a:ext cx="1188000" cy="456480"/>
          </a:xfrm>
          <a:prstGeom prst="roundRect">
            <a:avLst>
              <a:gd name="adj" fmla="val 18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 name="TextBox 13"/>
          <p:cNvSpPr/>
          <p:nvPr/>
        </p:nvSpPr>
        <p:spPr>
          <a:xfrm>
            <a:off x="8579880" y="239580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PPTX</a:t>
            </a:r>
            <a:endParaRPr b="0" lang="en-US" sz="1150" spc="-1" strike="noStrike">
              <a:solidFill>
                <a:srgbClr val="000000"/>
              </a:solidFill>
              <a:latin typeface="Arial"/>
            </a:endParaRPr>
          </a:p>
        </p:txBody>
      </p:sp>
      <p:sp>
        <p:nvSpPr>
          <p:cNvPr id="69" name="Isosceles Triangle 14"/>
          <p:cNvSpPr/>
          <p:nvPr/>
        </p:nvSpPr>
        <p:spPr>
          <a:xfrm rot="5400000">
            <a:off x="9979560" y="240480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0" name="Rectangle 15"/>
          <p:cNvSpPr/>
          <p:nvPr/>
        </p:nvSpPr>
        <p:spPr>
          <a:xfrm>
            <a:off x="10344600" y="236844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 name="Rounded Rectangle 16"/>
          <p:cNvSpPr/>
          <p:nvPr/>
        </p:nvSpPr>
        <p:spPr>
          <a:xfrm>
            <a:off x="8579880" y="2935080"/>
            <a:ext cx="1188000" cy="456480"/>
          </a:xfrm>
          <a:prstGeom prst="roundRect">
            <a:avLst>
              <a:gd name="adj" fmla="val 18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 name="TextBox 17"/>
          <p:cNvSpPr/>
          <p:nvPr/>
        </p:nvSpPr>
        <p:spPr>
          <a:xfrm>
            <a:off x="8579880" y="305424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HTML</a:t>
            </a:r>
            <a:endParaRPr b="0" lang="en-US" sz="1150" spc="-1" strike="noStrike">
              <a:solidFill>
                <a:srgbClr val="000000"/>
              </a:solidFill>
              <a:latin typeface="Arial"/>
            </a:endParaRPr>
          </a:p>
        </p:txBody>
      </p:sp>
      <p:sp>
        <p:nvSpPr>
          <p:cNvPr id="73" name="Isosceles Triangle 18"/>
          <p:cNvSpPr/>
          <p:nvPr/>
        </p:nvSpPr>
        <p:spPr>
          <a:xfrm rot="5400000">
            <a:off x="9979560" y="306324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 name="Rectangle 19"/>
          <p:cNvSpPr/>
          <p:nvPr/>
        </p:nvSpPr>
        <p:spPr>
          <a:xfrm>
            <a:off x="10344600" y="302652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Rounded Rectangle 20"/>
          <p:cNvSpPr/>
          <p:nvPr/>
        </p:nvSpPr>
        <p:spPr>
          <a:xfrm>
            <a:off x="8579880" y="3593520"/>
            <a:ext cx="1188000" cy="456480"/>
          </a:xfrm>
          <a:prstGeom prst="roundRect">
            <a:avLst>
              <a:gd name="adj" fmla="val 18000"/>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6" name="TextBox 21"/>
          <p:cNvSpPr/>
          <p:nvPr/>
        </p:nvSpPr>
        <p:spPr>
          <a:xfrm>
            <a:off x="8579880" y="371232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XLSX</a:t>
            </a:r>
            <a:endParaRPr b="0" lang="en-US" sz="1150" spc="-1" strike="noStrike">
              <a:solidFill>
                <a:srgbClr val="000000"/>
              </a:solidFill>
              <a:latin typeface="Arial"/>
            </a:endParaRPr>
          </a:p>
        </p:txBody>
      </p:sp>
      <p:sp>
        <p:nvSpPr>
          <p:cNvPr id="77" name="Isosceles Triangle 22"/>
          <p:cNvSpPr/>
          <p:nvPr/>
        </p:nvSpPr>
        <p:spPr>
          <a:xfrm rot="5400000">
            <a:off x="9979560" y="372168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 name="Rectangle 23"/>
          <p:cNvSpPr/>
          <p:nvPr/>
        </p:nvSpPr>
        <p:spPr>
          <a:xfrm>
            <a:off x="10344600" y="368496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 name="Rounded Rectangle 24"/>
          <p:cNvSpPr/>
          <p:nvPr/>
        </p:nvSpPr>
        <p:spPr>
          <a:xfrm>
            <a:off x="8579880" y="4251960"/>
            <a:ext cx="1188000" cy="456480"/>
          </a:xfrm>
          <a:prstGeom prst="roundRect">
            <a:avLst>
              <a:gd name="adj" fmla="val 18000"/>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 name="TextBox 25"/>
          <p:cNvSpPr/>
          <p:nvPr/>
        </p:nvSpPr>
        <p:spPr>
          <a:xfrm>
            <a:off x="8579880" y="437076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JPG</a:t>
            </a:r>
            <a:endParaRPr b="0" lang="en-US" sz="1150" spc="-1" strike="noStrike">
              <a:solidFill>
                <a:srgbClr val="000000"/>
              </a:solidFill>
              <a:latin typeface="Arial"/>
            </a:endParaRPr>
          </a:p>
        </p:txBody>
      </p:sp>
      <p:sp>
        <p:nvSpPr>
          <p:cNvPr id="81" name="Isosceles Triangle 26"/>
          <p:cNvSpPr/>
          <p:nvPr/>
        </p:nvSpPr>
        <p:spPr>
          <a:xfrm rot="5400000">
            <a:off x="9979560" y="438012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2" name="Rectangle 27"/>
          <p:cNvSpPr/>
          <p:nvPr/>
        </p:nvSpPr>
        <p:spPr>
          <a:xfrm>
            <a:off x="10344600" y="434340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3" name="Rounded Rectangle 28"/>
          <p:cNvSpPr/>
          <p:nvPr/>
        </p:nvSpPr>
        <p:spPr>
          <a:xfrm>
            <a:off x="8579880" y="4910400"/>
            <a:ext cx="1188000" cy="456480"/>
          </a:xfrm>
          <a:prstGeom prst="roundRect">
            <a:avLst>
              <a:gd name="adj" fmla="val 18000"/>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4" name="TextBox 29"/>
          <p:cNvSpPr/>
          <p:nvPr/>
        </p:nvSpPr>
        <p:spPr>
          <a:xfrm>
            <a:off x="8579880" y="5029200"/>
            <a:ext cx="11880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PNG</a:t>
            </a:r>
            <a:endParaRPr b="0" lang="en-US" sz="1150" spc="-1" strike="noStrike">
              <a:solidFill>
                <a:srgbClr val="000000"/>
              </a:solidFill>
              <a:latin typeface="Arial"/>
            </a:endParaRPr>
          </a:p>
        </p:txBody>
      </p:sp>
      <p:sp>
        <p:nvSpPr>
          <p:cNvPr id="85" name="Isosceles Triangle 30"/>
          <p:cNvSpPr/>
          <p:nvPr/>
        </p:nvSpPr>
        <p:spPr>
          <a:xfrm rot="5400000">
            <a:off x="9979560" y="5038200"/>
            <a:ext cx="200520" cy="200520"/>
          </a:xfrm>
          <a:prstGeom prst="triangle">
            <a:avLst>
              <a:gd name="adj" fmla="val 5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6" name="Rectangle 31"/>
          <p:cNvSpPr/>
          <p:nvPr/>
        </p:nvSpPr>
        <p:spPr>
          <a:xfrm>
            <a:off x="10344600" y="5001840"/>
            <a:ext cx="1325160" cy="273600"/>
          </a:xfrm>
          <a:prstGeom prst="rect">
            <a:avLst/>
          </a:prstGeom>
          <a:solidFill>
            <a:srgbClr val="2b3a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 name="TextBox 32"/>
          <p:cNvSpPr/>
          <p:nvPr/>
        </p:nvSpPr>
        <p:spPr>
          <a:xfrm>
            <a:off x="1051560" y="2103120"/>
            <a:ext cx="6765840" cy="182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d4ed8"/>
                </a:solidFill>
                <a:latin typeface="Segoe UI"/>
              </a:rPr>
              <a:t>ARCHITECTURE &amp; IMPLEMENTATION OVERVIEW</a:t>
            </a:r>
            <a:endParaRPr b="0" lang="en-US" sz="1200" spc="-1" strike="noStrike">
              <a:solidFill>
                <a:srgbClr val="000000"/>
              </a:solidFill>
              <a:latin typeface="Arial"/>
            </a:endParaRPr>
          </a:p>
        </p:txBody>
      </p:sp>
      <p:sp>
        <p:nvSpPr>
          <p:cNvPr id="88" name="TextBox 33"/>
          <p:cNvSpPr/>
          <p:nvPr/>
        </p:nvSpPr>
        <p:spPr>
          <a:xfrm>
            <a:off x="1051560" y="2606040"/>
            <a:ext cx="6857280" cy="14554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201"/>
              </a:spcAft>
            </a:pPr>
            <a:r>
              <a:rPr b="1" lang="en-US" sz="4600" spc="-1" strike="noStrike">
                <a:solidFill>
                  <a:srgbClr val="ffffff"/>
                </a:solidFill>
                <a:latin typeface="Segoe UI"/>
              </a:rPr>
              <a:t>Document Intelligence</a:t>
            </a:r>
            <a:endParaRPr b="0" lang="en-US" sz="4600" spc="-1" strike="noStrike">
              <a:solidFill>
                <a:srgbClr val="000000"/>
              </a:solidFill>
              <a:latin typeface="Arial"/>
            </a:endParaRPr>
          </a:p>
          <a:p>
            <a:pPr defTabSz="457200">
              <a:lnSpc>
                <a:spcPct val="102000"/>
              </a:lnSpc>
            </a:pPr>
            <a:r>
              <a:rPr b="1" lang="en-US" sz="4600" spc="-1" strike="noStrike">
                <a:solidFill>
                  <a:srgbClr val="1d4ed8"/>
                </a:solidFill>
                <a:latin typeface="Segoe UI"/>
              </a:rPr>
              <a:t>for AI Agents</a:t>
            </a:r>
            <a:endParaRPr b="0" lang="en-US" sz="4600" spc="-1" strike="noStrike">
              <a:solidFill>
                <a:srgbClr val="000000"/>
              </a:solidFill>
              <a:latin typeface="Arial"/>
            </a:endParaRPr>
          </a:p>
        </p:txBody>
      </p:sp>
      <p:sp>
        <p:nvSpPr>
          <p:cNvPr id="89" name="Rectangle 34"/>
          <p:cNvSpPr/>
          <p:nvPr/>
        </p:nvSpPr>
        <p:spPr>
          <a:xfrm>
            <a:off x="1051560" y="4617720"/>
            <a:ext cx="1370880" cy="4032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90" name="TextBox 35"/>
          <p:cNvSpPr/>
          <p:nvPr/>
        </p:nvSpPr>
        <p:spPr>
          <a:xfrm>
            <a:off x="1051560" y="4956120"/>
            <a:ext cx="6400080" cy="617040"/>
          </a:xfrm>
          <a:prstGeom prst="rect">
            <a:avLst/>
          </a:prstGeom>
          <a:noFill/>
          <a:ln w="0">
            <a:noFill/>
          </a:ln>
        </p:spPr>
        <p:style>
          <a:lnRef idx="0"/>
          <a:fillRef idx="0"/>
          <a:effectRef idx="0"/>
          <a:fontRef idx="minor"/>
        </p:style>
        <p:txBody>
          <a:bodyPr lIns="0" rIns="0" tIns="0" bIns="0" anchor="t">
            <a:spAutoFit/>
          </a:bodyPr>
          <a:p>
            <a:pPr defTabSz="457200">
              <a:lnSpc>
                <a:spcPct val="135000"/>
              </a:lnSpc>
            </a:pPr>
            <a:r>
              <a:rPr b="0" lang="en-US" sz="1500" spc="-1" strike="noStrike">
                <a:solidFill>
                  <a:srgbClr val="94a3b8"/>
                </a:solidFill>
                <a:latin typeface="Segoe UI"/>
              </a:rPr>
              <a:t>Turning documents, spreadsheets and photographs into structured, machine-readable facts an agent can reason over.</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3"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THE PROBLEM</a:t>
            </a:r>
            <a:endParaRPr b="0" lang="en-US" sz="1150" spc="-1" strike="noStrike">
              <a:solidFill>
                <a:srgbClr val="000000"/>
              </a:solidFill>
              <a:latin typeface="Arial"/>
            </a:endParaRPr>
          </a:p>
        </p:txBody>
      </p:sp>
      <p:sp>
        <p:nvSpPr>
          <p:cNvPr id="94"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An AI agent cannot read a binary file</a:t>
            </a:r>
            <a:endParaRPr b="0" lang="en-US" sz="3000" spc="-1" strike="noStrike">
              <a:solidFill>
                <a:srgbClr val="000000"/>
              </a:solidFill>
              <a:latin typeface="Arial"/>
            </a:endParaRPr>
          </a:p>
        </p:txBody>
      </p:sp>
      <p:sp>
        <p:nvSpPr>
          <p:cNvPr id="95"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Language models reason over text. Most real-world documents are structured binary formats.</a:t>
            </a:r>
            <a:endParaRPr b="0" lang="en-US" sz="1450" spc="-1" strike="noStrike">
              <a:solidFill>
                <a:srgbClr val="000000"/>
              </a:solidFill>
              <a:latin typeface="Arial"/>
            </a:endParaRPr>
          </a:p>
        </p:txBody>
      </p:sp>
      <p:sp>
        <p:nvSpPr>
          <p:cNvPr id="96"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97" name="Rectangle 7"/>
          <p:cNvSpPr/>
          <p:nvPr/>
        </p:nvSpPr>
        <p:spPr>
          <a:xfrm>
            <a:off x="777240" y="242028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98" name="TextBox 8"/>
          <p:cNvSpPr/>
          <p:nvPr/>
        </p:nvSpPr>
        <p:spPr>
          <a:xfrm>
            <a:off x="1069920" y="2352960"/>
            <a:ext cx="5695920" cy="5652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50" spc="-1" strike="noStrike">
                <a:solidFill>
                  <a:srgbClr val="0f172a"/>
                </a:solidFill>
                <a:latin typeface="Segoe UI"/>
              </a:rPr>
              <a:t>A PDF is not text. </a:t>
            </a:r>
            <a:r>
              <a:rPr b="0" lang="en-US" sz="1450" spc="-1" strike="noStrike">
                <a:solidFill>
                  <a:srgbClr val="64748b"/>
                </a:solidFill>
                <a:latin typeface="Segoe UI"/>
              </a:rPr>
              <a:t>It is a layout program — reading order and tables must be recovered, not simply read off.</a:t>
            </a:r>
            <a:endParaRPr b="0" lang="en-US" sz="1450" spc="-1" strike="noStrike">
              <a:solidFill>
                <a:srgbClr val="000000"/>
              </a:solidFill>
              <a:latin typeface="Arial"/>
            </a:endParaRPr>
          </a:p>
        </p:txBody>
      </p:sp>
      <p:sp>
        <p:nvSpPr>
          <p:cNvPr id="99" name="Rectangle 9"/>
          <p:cNvSpPr/>
          <p:nvPr/>
        </p:nvSpPr>
        <p:spPr>
          <a:xfrm>
            <a:off x="777240" y="327492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100" name="TextBox 10"/>
          <p:cNvSpPr/>
          <p:nvPr/>
        </p:nvSpPr>
        <p:spPr>
          <a:xfrm>
            <a:off x="1069920" y="3207600"/>
            <a:ext cx="5695920" cy="5652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50" spc="-1" strike="noStrike">
                <a:solidFill>
                  <a:srgbClr val="0f172a"/>
                </a:solidFill>
                <a:latin typeface="Segoe UI"/>
              </a:rPr>
              <a:t>A spreadsheet is not strings. </a:t>
            </a:r>
            <a:r>
              <a:rPr b="0" lang="en-US" sz="1450" spc="-1" strike="noStrike">
                <a:solidFill>
                  <a:srgbClr val="64748b"/>
                </a:solidFill>
                <a:latin typeface="Segoe UI"/>
              </a:rPr>
              <a:t>It is typed values, formulas and styles; the numbers you see are formatted, not stored.</a:t>
            </a:r>
            <a:endParaRPr b="0" lang="en-US" sz="1450" spc="-1" strike="noStrike">
              <a:solidFill>
                <a:srgbClr val="000000"/>
              </a:solidFill>
              <a:latin typeface="Arial"/>
            </a:endParaRPr>
          </a:p>
        </p:txBody>
      </p:sp>
      <p:sp>
        <p:nvSpPr>
          <p:cNvPr id="101" name="Rectangle 11"/>
          <p:cNvSpPr/>
          <p:nvPr/>
        </p:nvSpPr>
        <p:spPr>
          <a:xfrm>
            <a:off x="777240" y="412920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102" name="TextBox 12"/>
          <p:cNvSpPr/>
          <p:nvPr/>
        </p:nvSpPr>
        <p:spPr>
          <a:xfrm>
            <a:off x="1069920" y="4061880"/>
            <a:ext cx="5695920" cy="5652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50" spc="-1" strike="noStrike">
                <a:solidFill>
                  <a:srgbClr val="0f172a"/>
                </a:solidFill>
                <a:latin typeface="Segoe UI"/>
              </a:rPr>
              <a:t>A photograph carries no text. </a:t>
            </a:r>
            <a:r>
              <a:rPr b="0" lang="en-US" sz="1450" spc="-1" strike="noStrike">
                <a:solidFill>
                  <a:srgbClr val="64748b"/>
                </a:solidFill>
                <a:latin typeface="Segoe UI"/>
              </a:rPr>
              <a:t>What an agent needs from it must be produced by a model that can see.</a:t>
            </a:r>
            <a:endParaRPr b="0" lang="en-US" sz="1450" spc="-1" strike="noStrike">
              <a:solidFill>
                <a:srgbClr val="000000"/>
              </a:solidFill>
              <a:latin typeface="Arial"/>
            </a:endParaRPr>
          </a:p>
        </p:txBody>
      </p:sp>
      <p:sp>
        <p:nvSpPr>
          <p:cNvPr id="103" name="Rectangle 13"/>
          <p:cNvSpPr/>
          <p:nvPr/>
        </p:nvSpPr>
        <p:spPr>
          <a:xfrm>
            <a:off x="7178040" y="2279880"/>
            <a:ext cx="4232880" cy="3382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 name="Rectangle 14"/>
          <p:cNvSpPr/>
          <p:nvPr/>
        </p:nvSpPr>
        <p:spPr>
          <a:xfrm>
            <a:off x="7178040" y="2279880"/>
            <a:ext cx="4232880" cy="4968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5" name="TextBox 15"/>
          <p:cNvSpPr/>
          <p:nvPr/>
        </p:nvSpPr>
        <p:spPr>
          <a:xfrm>
            <a:off x="7452360" y="2554200"/>
            <a:ext cx="3702600" cy="273096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1301"/>
              </a:spcAft>
            </a:pPr>
            <a:r>
              <a:rPr b="1" lang="en-US" sz="1450" spc="-1" strike="noStrike">
                <a:solidFill>
                  <a:srgbClr val="0f172a"/>
                </a:solidFill>
                <a:latin typeface="Segoe UI"/>
              </a:rPr>
              <a:t>The naive fixes all leak</a:t>
            </a:r>
            <a:endParaRPr b="0" lang="en-US" sz="1450" spc="-1" strike="noStrike">
              <a:solidFill>
                <a:srgbClr val="000000"/>
              </a:solidFill>
              <a:latin typeface="Arial"/>
            </a:endParaRPr>
          </a:p>
          <a:p>
            <a:pPr defTabSz="457200">
              <a:lnSpc>
                <a:spcPct val="125000"/>
              </a:lnSpc>
              <a:spcAft>
                <a:spcPts val="1100"/>
              </a:spcAft>
            </a:pPr>
            <a:r>
              <a:rPr b="1" lang="en-US" sz="1250" spc="-1" strike="noStrike">
                <a:solidFill>
                  <a:srgbClr val="0f172a"/>
                </a:solidFill>
                <a:latin typeface="Segoe UI"/>
              </a:rPr>
              <a:t>Plain-text scraping — </a:t>
            </a:r>
            <a:r>
              <a:rPr b="0" lang="en-US" sz="1250" spc="-1" strike="noStrike">
                <a:solidFill>
                  <a:srgbClr val="64748b"/>
                </a:solidFill>
                <a:latin typeface="Segoe UI"/>
              </a:rPr>
              <a:t>loses tables, column order and headings</a:t>
            </a:r>
            <a:endParaRPr b="0" lang="en-US" sz="1250" spc="-1" strike="noStrike">
              <a:solidFill>
                <a:srgbClr val="000000"/>
              </a:solidFill>
              <a:latin typeface="Arial"/>
            </a:endParaRPr>
          </a:p>
          <a:p>
            <a:pPr defTabSz="457200">
              <a:lnSpc>
                <a:spcPct val="125000"/>
              </a:lnSpc>
              <a:spcAft>
                <a:spcPts val="1100"/>
              </a:spcAft>
            </a:pPr>
            <a:r>
              <a:rPr b="1" lang="en-US" sz="1250" spc="-1" strike="noStrike">
                <a:solidFill>
                  <a:srgbClr val="0f172a"/>
                </a:solidFill>
                <a:latin typeface="Segoe UI"/>
              </a:rPr>
              <a:t>Screenshot the page — </a:t>
            </a:r>
            <a:r>
              <a:rPr b="0" lang="en-US" sz="1250" spc="-1" strike="noStrike">
                <a:solidFill>
                  <a:srgbClr val="64748b"/>
                </a:solidFill>
                <a:latin typeface="Segoe UI"/>
              </a:rPr>
              <a:t>the model re-reads numbers it can only guess at</a:t>
            </a:r>
            <a:endParaRPr b="0" lang="en-US" sz="1250" spc="-1" strike="noStrike">
              <a:solidFill>
                <a:srgbClr val="000000"/>
              </a:solidFill>
              <a:latin typeface="Arial"/>
            </a:endParaRPr>
          </a:p>
          <a:p>
            <a:pPr defTabSz="457200">
              <a:lnSpc>
                <a:spcPct val="125000"/>
              </a:lnSpc>
              <a:spcAft>
                <a:spcPts val="1100"/>
              </a:spcAft>
            </a:pPr>
            <a:r>
              <a:rPr b="1" lang="en-US" sz="1250" spc="-1" strike="noStrike">
                <a:solidFill>
                  <a:srgbClr val="0f172a"/>
                </a:solidFill>
                <a:latin typeface="Segoe UI"/>
              </a:rPr>
              <a:t>Per-format libraries — </a:t>
            </a:r>
            <a:r>
              <a:rPr b="0" lang="en-US" sz="1250" spc="-1" strike="noStrike">
                <a:solidFill>
                  <a:srgbClr val="64748b"/>
                </a:solidFill>
                <a:latin typeface="Segoe UI"/>
              </a:rPr>
              <a:t>a different bug surface for every file type</a:t>
            </a:r>
            <a:endParaRPr b="0" lang="en-US" sz="1250" spc="-1" strike="noStrike">
              <a:solidFill>
                <a:srgbClr val="000000"/>
              </a:solidFill>
              <a:latin typeface="Arial"/>
            </a:endParaRPr>
          </a:p>
          <a:p>
            <a:pPr defTabSz="457200">
              <a:lnSpc>
                <a:spcPct val="125000"/>
              </a:lnSpc>
              <a:spcAft>
                <a:spcPts val="1100"/>
              </a:spcAft>
            </a:pPr>
            <a:r>
              <a:rPr b="1" lang="en-US" sz="1250" spc="-1" strike="noStrike">
                <a:solidFill>
                  <a:srgbClr val="0f172a"/>
                </a:solidFill>
                <a:latin typeface="Segoe UI"/>
              </a:rPr>
              <a:t>Paste the raw bytes — </a:t>
            </a:r>
            <a:r>
              <a:rPr b="0" lang="en-US" sz="1250" spc="-1" strike="noStrike">
                <a:solidFill>
                  <a:srgbClr val="64748b"/>
                </a:solidFill>
                <a:latin typeface="Segoe UI"/>
              </a:rPr>
              <a:t>burns the context window, teaches nothing</a:t>
            </a:r>
            <a:endParaRPr b="0" lang="en-US" sz="1250" spc="-1" strike="noStrike">
              <a:solidFill>
                <a:srgbClr val="000000"/>
              </a:solidFill>
              <a:latin typeface="Arial"/>
            </a:endParaRPr>
          </a:p>
        </p:txBody>
      </p:sp>
      <p:sp>
        <p:nvSpPr>
          <p:cNvPr id="106" name="TextBox 16"/>
          <p:cNvSpPr/>
          <p:nvPr/>
        </p:nvSpPr>
        <p:spPr>
          <a:xfrm>
            <a:off x="777240" y="5742360"/>
            <a:ext cx="10636560" cy="295200"/>
          </a:xfrm>
          <a:prstGeom prst="rect">
            <a:avLst/>
          </a:prstGeom>
          <a:noFill/>
          <a:ln w="0">
            <a:noFill/>
          </a:ln>
        </p:spPr>
        <p:style>
          <a:lnRef idx="0"/>
          <a:fillRef idx="0"/>
          <a:effectRef idx="0"/>
          <a:fontRef idx="minor"/>
        </p:style>
        <p:txBody>
          <a:bodyPr lIns="0" rIns="0" tIns="0" bIns="0" anchor="t">
            <a:spAutoFit/>
          </a:bodyPr>
          <a:p>
            <a:pPr defTabSz="457200">
              <a:lnSpc>
                <a:spcPct val="125000"/>
              </a:lnSpc>
            </a:pPr>
            <a:r>
              <a:rPr b="1" lang="en-US" sz="1550" spc="-1" strike="noStrike">
                <a:solidFill>
                  <a:srgbClr val="0f172a"/>
                </a:solidFill>
                <a:latin typeface="Segoe UI"/>
              </a:rPr>
              <a:t>The gap is not intelligence. </a:t>
            </a:r>
            <a:r>
              <a:rPr b="0" lang="en-US" sz="1550" spc="-1" strike="noStrike">
                <a:solidFill>
                  <a:srgbClr val="64748b"/>
                </a:solidFill>
                <a:latin typeface="Segoe UI"/>
              </a:rPr>
              <a:t>It is ingestion — and it is the same gap for every agent that touches real documents.</a:t>
            </a:r>
            <a:endParaRPr b="0" lang="en-US" sz="1550" spc="-1" strike="noStrike">
              <a:solidFill>
                <a:srgbClr val="000000"/>
              </a:solidFill>
              <a:latin typeface="Arial"/>
            </a:endParaRPr>
          </a:p>
        </p:txBody>
      </p:sp>
      <p:sp>
        <p:nvSpPr>
          <p:cNvPr id="107" name="TextBox 17"/>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2</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0"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THE SERVICE</a:t>
            </a:r>
            <a:endParaRPr b="0" lang="en-US" sz="1150" spc="-1" strike="noStrike">
              <a:solidFill>
                <a:srgbClr val="000000"/>
              </a:solidFill>
              <a:latin typeface="Arial"/>
            </a:endParaRPr>
          </a:p>
        </p:txBody>
      </p:sp>
      <p:sp>
        <p:nvSpPr>
          <p:cNvPr id="111"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Files in. Facts out. One call.</a:t>
            </a:r>
            <a:endParaRPr b="0" lang="en-US" sz="3000" spc="-1" strike="noStrike">
              <a:solidFill>
                <a:srgbClr val="000000"/>
              </a:solidFill>
              <a:latin typeface="Arial"/>
            </a:endParaRPr>
          </a:p>
        </p:txBody>
      </p:sp>
      <p:sp>
        <p:nvSpPr>
          <p:cNvPr id="112"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A single synchronous HTTP endpoint accepts a batch of mixed-format files and returns one structured envelope.</a:t>
            </a:r>
            <a:endParaRPr b="0" lang="en-US" sz="1450" spc="-1" strike="noStrike">
              <a:solidFill>
                <a:srgbClr val="000000"/>
              </a:solidFill>
              <a:latin typeface="Arial"/>
            </a:endParaRPr>
          </a:p>
        </p:txBody>
      </p:sp>
      <p:sp>
        <p:nvSpPr>
          <p:cNvPr id="113"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14" name="Rectangle 7"/>
          <p:cNvSpPr/>
          <p:nvPr/>
        </p:nvSpPr>
        <p:spPr>
          <a:xfrm>
            <a:off x="777240" y="2352960"/>
            <a:ext cx="2788200" cy="35838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 name="TextBox 8"/>
          <p:cNvSpPr/>
          <p:nvPr/>
        </p:nvSpPr>
        <p:spPr>
          <a:xfrm>
            <a:off x="1033200" y="2590560"/>
            <a:ext cx="2285280" cy="2226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301"/>
              </a:spcAft>
            </a:pPr>
            <a:r>
              <a:rPr b="1" lang="en-US" sz="1050" spc="-1" strike="noStrike">
                <a:solidFill>
                  <a:srgbClr val="64748b"/>
                </a:solidFill>
                <a:latin typeface="Segoe UI"/>
              </a:rPr>
              <a:t>INPUT</a:t>
            </a:r>
            <a:endParaRPr b="0" lang="en-US" sz="1050" spc="-1" strike="noStrike">
              <a:solidFill>
                <a:srgbClr val="000000"/>
              </a:solidFill>
              <a:latin typeface="Arial"/>
            </a:endParaRPr>
          </a:p>
          <a:p>
            <a:pPr defTabSz="457200">
              <a:lnSpc>
                <a:spcPct val="125000"/>
              </a:lnSpc>
              <a:spcAft>
                <a:spcPts val="1400"/>
              </a:spcAft>
            </a:pPr>
            <a:r>
              <a:rPr b="1" lang="en-US" sz="1250" spc="-1" strike="noStrike">
                <a:solidFill>
                  <a:srgbClr val="1d4ed8"/>
                </a:solidFill>
                <a:latin typeface="Segoe UI"/>
              </a:rPr>
              <a:t>PDF — digital or scanned</a:t>
            </a:r>
            <a:endParaRPr b="0" lang="en-US" sz="1250" spc="-1" strike="noStrike">
              <a:solidFill>
                <a:srgbClr val="000000"/>
              </a:solidFill>
              <a:latin typeface="Arial"/>
            </a:endParaRPr>
          </a:p>
          <a:p>
            <a:pPr defTabSz="457200">
              <a:lnSpc>
                <a:spcPct val="125000"/>
              </a:lnSpc>
              <a:spcAft>
                <a:spcPts val="1400"/>
              </a:spcAft>
            </a:pPr>
            <a:r>
              <a:rPr b="1" lang="en-US" sz="1250" spc="-1" strike="noStrike">
                <a:solidFill>
                  <a:srgbClr val="1d4ed8"/>
                </a:solidFill>
                <a:latin typeface="Segoe UI"/>
              </a:rPr>
              <a:t>DOCX  ·  PPTX</a:t>
            </a:r>
            <a:endParaRPr b="0" lang="en-US" sz="1250" spc="-1" strike="noStrike">
              <a:solidFill>
                <a:srgbClr val="000000"/>
              </a:solidFill>
              <a:latin typeface="Arial"/>
            </a:endParaRPr>
          </a:p>
          <a:p>
            <a:pPr defTabSz="457200">
              <a:lnSpc>
                <a:spcPct val="125000"/>
              </a:lnSpc>
              <a:spcAft>
                <a:spcPts val="1400"/>
              </a:spcAft>
            </a:pPr>
            <a:r>
              <a:rPr b="1" lang="en-US" sz="1250" spc="-1" strike="noStrike">
                <a:solidFill>
                  <a:srgbClr val="1d4ed8"/>
                </a:solidFill>
                <a:latin typeface="Segoe UI"/>
              </a:rPr>
              <a:t>HTML</a:t>
            </a:r>
            <a:endParaRPr b="0" lang="en-US" sz="1250" spc="-1" strike="noStrike">
              <a:solidFill>
                <a:srgbClr val="000000"/>
              </a:solidFill>
              <a:latin typeface="Arial"/>
            </a:endParaRPr>
          </a:p>
          <a:p>
            <a:pPr defTabSz="457200">
              <a:lnSpc>
                <a:spcPct val="125000"/>
              </a:lnSpc>
              <a:spcAft>
                <a:spcPts val="1400"/>
              </a:spcAft>
            </a:pPr>
            <a:r>
              <a:rPr b="1" lang="en-US" sz="1250" spc="-1" strike="noStrike">
                <a:solidFill>
                  <a:srgbClr val="0f766e"/>
                </a:solidFill>
                <a:latin typeface="Segoe UI"/>
              </a:rPr>
              <a:t>XLSX</a:t>
            </a:r>
            <a:endParaRPr b="0" lang="en-US" sz="1250" spc="-1" strike="noStrike">
              <a:solidFill>
                <a:srgbClr val="000000"/>
              </a:solidFill>
              <a:latin typeface="Arial"/>
            </a:endParaRPr>
          </a:p>
          <a:p>
            <a:pPr defTabSz="457200">
              <a:lnSpc>
                <a:spcPct val="125000"/>
              </a:lnSpc>
              <a:spcAft>
                <a:spcPts val="1400"/>
              </a:spcAft>
            </a:pPr>
            <a:r>
              <a:rPr b="1" lang="en-US" sz="1250" spc="-1" strike="noStrike">
                <a:solidFill>
                  <a:srgbClr val="6d28d9"/>
                </a:solidFill>
                <a:latin typeface="Segoe UI"/>
              </a:rPr>
              <a:t>JPG  ·  PNG</a:t>
            </a:r>
            <a:endParaRPr b="0" lang="en-US" sz="1250" spc="-1" strike="noStrike">
              <a:solidFill>
                <a:srgbClr val="000000"/>
              </a:solidFill>
              <a:latin typeface="Arial"/>
            </a:endParaRPr>
          </a:p>
        </p:txBody>
      </p:sp>
      <p:sp>
        <p:nvSpPr>
          <p:cNvPr id="116" name="Isosceles Triangle 10"/>
          <p:cNvSpPr/>
          <p:nvPr/>
        </p:nvSpPr>
        <p:spPr>
          <a:xfrm rot="5400000">
            <a:off x="3768120" y="4026240"/>
            <a:ext cx="236880" cy="23688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 name="Rectangle 11"/>
          <p:cNvSpPr/>
          <p:nvPr/>
        </p:nvSpPr>
        <p:spPr>
          <a:xfrm>
            <a:off x="4224600" y="2352960"/>
            <a:ext cx="3245400" cy="3583800"/>
          </a:xfrm>
          <a:prstGeom prst="rect">
            <a:avLst/>
          </a:prstGeom>
          <a:solidFill>
            <a:srgbClr val="0b12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 name="Rectangle 12"/>
          <p:cNvSpPr/>
          <p:nvPr/>
        </p:nvSpPr>
        <p:spPr>
          <a:xfrm>
            <a:off x="4224600" y="2352960"/>
            <a:ext cx="3245400" cy="6336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119" name="TextBox 13"/>
          <p:cNvSpPr/>
          <p:nvPr/>
        </p:nvSpPr>
        <p:spPr>
          <a:xfrm>
            <a:off x="4480560" y="2645640"/>
            <a:ext cx="2742480" cy="2157480"/>
          </a:xfrm>
          <a:prstGeom prst="rect">
            <a:avLst/>
          </a:prstGeom>
          <a:noFill/>
          <a:ln w="0">
            <a:noFill/>
          </a:ln>
        </p:spPr>
        <p:style>
          <a:lnRef idx="0"/>
          <a:fillRef idx="0"/>
          <a:effectRef idx="0"/>
          <a:fontRef idx="minor"/>
        </p:style>
        <p:txBody>
          <a:bodyPr lIns="0" rIns="0" tIns="0" bIns="0" anchor="t">
            <a:spAutoFit/>
          </a:bodyPr>
          <a:p>
            <a:pPr defTabSz="457200">
              <a:lnSpc>
                <a:spcPct val="112000"/>
              </a:lnSpc>
              <a:spcAft>
                <a:spcPts val="1599"/>
              </a:spcAft>
            </a:pPr>
            <a:r>
              <a:rPr b="1" lang="en-US" sz="1600" spc="-1" strike="noStrike">
                <a:solidFill>
                  <a:srgbClr val="ffffff"/>
                </a:solidFill>
                <a:latin typeface="Segoe UI"/>
              </a:rPr>
              <a:t>Document Intelligence Service</a:t>
            </a:r>
            <a:endParaRPr b="0" lang="en-US" sz="1600" spc="-1" strike="noStrike">
              <a:solidFill>
                <a:srgbClr val="000000"/>
              </a:solidFill>
              <a:latin typeface="Arial"/>
            </a:endParaRPr>
          </a:p>
          <a:p>
            <a:pPr defTabSz="457200">
              <a:lnSpc>
                <a:spcPct val="125000"/>
              </a:lnSpc>
              <a:spcAft>
                <a:spcPts val="1199"/>
              </a:spcAft>
            </a:pPr>
            <a:r>
              <a:rPr b="0" lang="en-US" sz="1250" spc="-1" strike="noStrike">
                <a:solidFill>
                  <a:srgbClr val="1d4ed8"/>
                </a:solidFill>
                <a:latin typeface="Segoe UI"/>
              </a:rPr>
              <a:t>— </a:t>
            </a:r>
            <a:r>
              <a:rPr b="0" lang="en-US" sz="1250" spc="-1" strike="noStrike">
                <a:solidFill>
                  <a:srgbClr val="94a3b8"/>
                </a:solidFill>
                <a:latin typeface="Segoe UI"/>
              </a:rPr>
              <a:t>Validate &amp; cap</a:t>
            </a:r>
            <a:endParaRPr b="0" lang="en-US" sz="1250" spc="-1" strike="noStrike">
              <a:solidFill>
                <a:srgbClr val="000000"/>
              </a:solidFill>
              <a:latin typeface="Arial"/>
            </a:endParaRPr>
          </a:p>
          <a:p>
            <a:pPr defTabSz="457200">
              <a:lnSpc>
                <a:spcPct val="125000"/>
              </a:lnSpc>
              <a:spcAft>
                <a:spcPts val="1199"/>
              </a:spcAft>
            </a:pPr>
            <a:r>
              <a:rPr b="0" lang="en-US" sz="1250" spc="-1" strike="noStrike">
                <a:solidFill>
                  <a:srgbClr val="1d4ed8"/>
                </a:solidFill>
                <a:latin typeface="Segoe UI"/>
              </a:rPr>
              <a:t>— </a:t>
            </a:r>
            <a:r>
              <a:rPr b="0" lang="en-US" sz="1250" spc="-1" strike="noStrike">
                <a:solidFill>
                  <a:srgbClr val="94a3b8"/>
                </a:solidFill>
                <a:latin typeface="Segoe UI"/>
              </a:rPr>
              <a:t>Detect kind from bytes</a:t>
            </a:r>
            <a:endParaRPr b="0" lang="en-US" sz="1250" spc="-1" strike="noStrike">
              <a:solidFill>
                <a:srgbClr val="000000"/>
              </a:solidFill>
              <a:latin typeface="Arial"/>
            </a:endParaRPr>
          </a:p>
          <a:p>
            <a:pPr defTabSz="457200">
              <a:lnSpc>
                <a:spcPct val="125000"/>
              </a:lnSpc>
              <a:spcAft>
                <a:spcPts val="1199"/>
              </a:spcAft>
            </a:pPr>
            <a:r>
              <a:rPr b="0" lang="en-US" sz="1250" spc="-1" strike="noStrike">
                <a:solidFill>
                  <a:srgbClr val="1d4ed8"/>
                </a:solidFill>
                <a:latin typeface="Segoe UI"/>
              </a:rPr>
              <a:t>— </a:t>
            </a:r>
            <a:r>
              <a:rPr b="0" lang="en-US" sz="1250" spc="-1" strike="noStrike">
                <a:solidFill>
                  <a:srgbClr val="94a3b8"/>
                </a:solidFill>
                <a:latin typeface="Segoe UI"/>
              </a:rPr>
              <a:t>Route to an engine</a:t>
            </a:r>
            <a:endParaRPr b="0" lang="en-US" sz="1250" spc="-1" strike="noStrike">
              <a:solidFill>
                <a:srgbClr val="000000"/>
              </a:solidFill>
              <a:latin typeface="Arial"/>
            </a:endParaRPr>
          </a:p>
          <a:p>
            <a:pPr defTabSz="457200">
              <a:lnSpc>
                <a:spcPct val="125000"/>
              </a:lnSpc>
              <a:spcAft>
                <a:spcPts val="1199"/>
              </a:spcAft>
            </a:pPr>
            <a:r>
              <a:rPr b="0" lang="en-US" sz="1250" spc="-1" strike="noStrike">
                <a:solidFill>
                  <a:srgbClr val="1d4ed8"/>
                </a:solidFill>
                <a:latin typeface="Segoe UI"/>
              </a:rPr>
              <a:t>— </a:t>
            </a:r>
            <a:r>
              <a:rPr b="0" lang="en-US" sz="1250" spc="-1" strike="noStrike">
                <a:solidFill>
                  <a:srgbClr val="94a3b8"/>
                </a:solidFill>
                <a:latin typeface="Segoe UI"/>
              </a:rPr>
              <a:t>Reassemble in order</a:t>
            </a:r>
            <a:endParaRPr b="0" lang="en-US" sz="1250" spc="-1" strike="noStrike">
              <a:solidFill>
                <a:srgbClr val="000000"/>
              </a:solidFill>
              <a:latin typeface="Arial"/>
            </a:endParaRPr>
          </a:p>
        </p:txBody>
      </p:sp>
      <p:sp>
        <p:nvSpPr>
          <p:cNvPr id="120" name="TextBox 14"/>
          <p:cNvSpPr/>
          <p:nvPr/>
        </p:nvSpPr>
        <p:spPr>
          <a:xfrm>
            <a:off x="4480560" y="5480280"/>
            <a:ext cx="2742480" cy="201240"/>
          </a:xfrm>
          <a:prstGeom prst="rect">
            <a:avLst/>
          </a:prstGeom>
          <a:noFill/>
          <a:ln w="0">
            <a:noFill/>
          </a:ln>
        </p:spPr>
        <p:style>
          <a:lnRef idx="0"/>
          <a:fillRef idx="0"/>
          <a:effectRef idx="0"/>
          <a:fontRef idx="minor"/>
        </p:style>
        <p:txBody>
          <a:bodyPr lIns="0" rIns="0" tIns="0" bIns="0" anchor="t">
            <a:spAutoFit/>
          </a:bodyPr>
          <a:p>
            <a:pPr defTabSz="457200">
              <a:lnSpc>
                <a:spcPct val="120000"/>
              </a:lnSpc>
            </a:pPr>
            <a:r>
              <a:rPr b="0" i="1" lang="en-US" sz="1100" spc="-1" strike="noStrike">
                <a:solidFill>
                  <a:srgbClr val="1d4ed8"/>
                </a:solidFill>
                <a:latin typeface="Segoe UI"/>
              </a:rPr>
              <a:t>stateless · stores nothing</a:t>
            </a:r>
            <a:endParaRPr b="0" lang="en-US" sz="1100" spc="-1" strike="noStrike">
              <a:solidFill>
                <a:srgbClr val="000000"/>
              </a:solidFill>
              <a:latin typeface="Arial"/>
            </a:endParaRPr>
          </a:p>
        </p:txBody>
      </p:sp>
      <p:sp>
        <p:nvSpPr>
          <p:cNvPr id="121" name="Isosceles Triangle 15"/>
          <p:cNvSpPr/>
          <p:nvPr/>
        </p:nvSpPr>
        <p:spPr>
          <a:xfrm rot="5400000">
            <a:off x="7718400" y="4026240"/>
            <a:ext cx="236880" cy="23688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 name="Rectangle 16"/>
          <p:cNvSpPr/>
          <p:nvPr/>
        </p:nvSpPr>
        <p:spPr>
          <a:xfrm>
            <a:off x="8174880" y="2352960"/>
            <a:ext cx="3236400" cy="35838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3" name="TextBox 17"/>
          <p:cNvSpPr/>
          <p:nvPr/>
        </p:nvSpPr>
        <p:spPr>
          <a:xfrm>
            <a:off x="8430840" y="2590560"/>
            <a:ext cx="2742480" cy="37749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301"/>
              </a:spcAft>
            </a:pPr>
            <a:r>
              <a:rPr b="1" lang="en-US" sz="1050" spc="-1" strike="noStrike">
                <a:solidFill>
                  <a:srgbClr val="64748b"/>
                </a:solidFill>
                <a:latin typeface="Segoe UI"/>
              </a:rPr>
              <a:t>OUTPUT — ONE JSON ENVELOPE</a:t>
            </a:r>
            <a:endParaRPr b="0" lang="en-US" sz="1050" spc="-1" strike="noStrike">
              <a:solidFill>
                <a:srgbClr val="000000"/>
              </a:solidFill>
              <a:latin typeface="Arial"/>
            </a:endParaRPr>
          </a:p>
          <a:p>
            <a:pPr defTabSz="457200">
              <a:lnSpc>
                <a:spcPct val="100000"/>
              </a:lnSpc>
              <a:spcAft>
                <a:spcPts val="1301"/>
              </a:spcAft>
            </a:pPr>
            <a:r>
              <a:rPr b="1" lang="en-US" sz="1250" spc="-1" strike="noStrike">
                <a:solidFill>
                  <a:srgbClr val="0f172a"/>
                </a:solidFill>
                <a:latin typeface="Segoe UI"/>
              </a:rPr>
              <a:t>Markdown</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headings, lists, tables preserved</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Typed table rows</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numbers as numbers, dates as ISO-8601</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Image descriptions</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factual, observation-only</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Per-file warnings</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what degraded, and why</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Per-file errors</a:t>
            </a:r>
            <a:endParaRPr b="0" lang="en-US" sz="1250" spc="-1" strike="noStrike">
              <a:solidFill>
                <a:srgbClr val="000000"/>
              </a:solidFill>
              <a:latin typeface="Arial"/>
            </a:endParaRPr>
          </a:p>
          <a:p>
            <a:pPr defTabSz="457200">
              <a:lnSpc>
                <a:spcPct val="120000"/>
              </a:lnSpc>
              <a:spcAft>
                <a:spcPts val="799"/>
              </a:spcAft>
            </a:pPr>
            <a:r>
              <a:rPr b="1" lang="en-US" sz="1250" spc="-1" strike="noStrike">
                <a:solidFill>
                  <a:srgbClr val="0f172a"/>
                </a:solidFill>
                <a:latin typeface="Segoe UI"/>
              </a:rPr>
              <a:t>machine-readable codes</a:t>
            </a:r>
            <a:endParaRPr b="0" lang="en-US" sz="1250" spc="-1" strike="noStrike">
              <a:solidFill>
                <a:srgbClr val="000000"/>
              </a:solidFill>
              <a:latin typeface="Arial"/>
            </a:endParaRPr>
          </a:p>
        </p:txBody>
      </p:sp>
      <p:sp>
        <p:nvSpPr>
          <p:cNvPr id="124" name="TextBox 18"/>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3</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Rectangle 2"/>
          <p:cNvSpPr/>
          <p:nvPr/>
        </p:nvSpPr>
        <p:spPr>
          <a:xfrm>
            <a:off x="777240" y="567000"/>
            <a:ext cx="49680" cy="27360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7"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c2410c"/>
                </a:solidFill>
                <a:latin typeface="Segoe UI"/>
              </a:rPr>
              <a:t>DESIGN PRINCIPLE</a:t>
            </a:r>
            <a:endParaRPr b="0" lang="en-US" sz="1150" spc="-1" strike="noStrike">
              <a:solidFill>
                <a:srgbClr val="000000"/>
              </a:solidFill>
              <a:latin typeface="Arial"/>
            </a:endParaRPr>
          </a:p>
        </p:txBody>
      </p:sp>
      <p:sp>
        <p:nvSpPr>
          <p:cNvPr id="128"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Extraction is not interpretation</a:t>
            </a:r>
            <a:endParaRPr b="0" lang="en-US" sz="3000" spc="-1" strike="noStrike">
              <a:solidFill>
                <a:srgbClr val="000000"/>
              </a:solidFill>
              <a:latin typeface="Arial"/>
            </a:endParaRPr>
          </a:p>
        </p:txBody>
      </p:sp>
      <p:sp>
        <p:nvSpPr>
          <p:cNvPr id="129"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The service reports what is in a document. It never decides what that means. That judgment belongs to the agent.</a:t>
            </a:r>
            <a:endParaRPr b="0" lang="en-US" sz="1450" spc="-1" strike="noStrike">
              <a:solidFill>
                <a:srgbClr val="000000"/>
              </a:solidFill>
              <a:latin typeface="Arial"/>
            </a:endParaRPr>
          </a:p>
        </p:txBody>
      </p:sp>
      <p:sp>
        <p:nvSpPr>
          <p:cNvPr id="130"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31" name="Rectangle 7"/>
          <p:cNvSpPr/>
          <p:nvPr/>
        </p:nvSpPr>
        <p:spPr>
          <a:xfrm>
            <a:off x="777240" y="2352960"/>
            <a:ext cx="5165640" cy="2212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 name="Rectangle 8"/>
          <p:cNvSpPr/>
          <p:nvPr/>
        </p:nvSpPr>
        <p:spPr>
          <a:xfrm>
            <a:off x="777240" y="2352960"/>
            <a:ext cx="5165640" cy="49680"/>
          </a:xfrm>
          <a:prstGeom prst="rect">
            <a:avLst/>
          </a:prstGeom>
          <a:solidFill>
            <a:srgbClr val="157f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3" name="TextBox 9"/>
          <p:cNvSpPr/>
          <p:nvPr/>
        </p:nvSpPr>
        <p:spPr>
          <a:xfrm>
            <a:off x="1069920" y="2608920"/>
            <a:ext cx="4598640" cy="17884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1301"/>
              </a:spcAft>
            </a:pPr>
            <a:r>
              <a:rPr b="1" lang="en-US" sz="1500" spc="-1" strike="noStrike">
                <a:solidFill>
                  <a:srgbClr val="0f172a"/>
                </a:solidFill>
                <a:latin typeface="Segoe UI"/>
              </a:rPr>
              <a:t>What the service returns</a:t>
            </a:r>
            <a:endParaRPr b="0" lang="en-US" sz="1500" spc="-1" strike="noStrike">
              <a:solidFill>
                <a:srgbClr val="000000"/>
              </a:solidFill>
              <a:latin typeface="Arial"/>
            </a:endParaRPr>
          </a:p>
          <a:p>
            <a:pPr defTabSz="457200">
              <a:lnSpc>
                <a:spcPct val="125000"/>
              </a:lnSpc>
              <a:spcAft>
                <a:spcPts val="1001"/>
              </a:spcAft>
            </a:pPr>
            <a:r>
              <a:rPr b="1" lang="en-US" sz="1300" spc="-1" strike="noStrike">
                <a:solidFill>
                  <a:srgbClr val="157f3c"/>
                </a:solidFill>
                <a:latin typeface="Segoe UI"/>
              </a:rPr>
              <a:t>✓  </a:t>
            </a:r>
            <a:r>
              <a:rPr b="0" lang="en-US" sz="1300" spc="-1" strike="noStrike">
                <a:solidFill>
                  <a:srgbClr val="64748b"/>
                </a:solidFill>
                <a:latin typeface="Segoe UI"/>
              </a:rPr>
              <a:t>Text, structure and layout as written</a:t>
            </a:r>
            <a:endParaRPr b="0" lang="en-US" sz="1300" spc="-1" strike="noStrike">
              <a:solidFill>
                <a:srgbClr val="000000"/>
              </a:solidFill>
              <a:latin typeface="Arial"/>
            </a:endParaRPr>
          </a:p>
          <a:p>
            <a:pPr defTabSz="457200">
              <a:lnSpc>
                <a:spcPct val="125000"/>
              </a:lnSpc>
              <a:spcAft>
                <a:spcPts val="1001"/>
              </a:spcAft>
            </a:pPr>
            <a:r>
              <a:rPr b="1" lang="en-US" sz="1300" spc="-1" strike="noStrike">
                <a:solidFill>
                  <a:srgbClr val="157f3c"/>
                </a:solidFill>
                <a:latin typeface="Segoe UI"/>
              </a:rPr>
              <a:t>✓  </a:t>
            </a:r>
            <a:r>
              <a:rPr b="0" lang="en-US" sz="1300" spc="-1" strike="noStrike">
                <a:solidFill>
                  <a:srgbClr val="64748b"/>
                </a:solidFill>
                <a:latin typeface="Segoe UI"/>
              </a:rPr>
              <a:t>Cell values exactly as stored in the file</a:t>
            </a:r>
            <a:endParaRPr b="0" lang="en-US" sz="1300" spc="-1" strike="noStrike">
              <a:solidFill>
                <a:srgbClr val="000000"/>
              </a:solidFill>
              <a:latin typeface="Arial"/>
            </a:endParaRPr>
          </a:p>
          <a:p>
            <a:pPr defTabSz="457200">
              <a:lnSpc>
                <a:spcPct val="125000"/>
              </a:lnSpc>
              <a:spcAft>
                <a:spcPts val="1001"/>
              </a:spcAft>
            </a:pPr>
            <a:r>
              <a:rPr b="1" lang="en-US" sz="1300" spc="-1" strike="noStrike">
                <a:solidFill>
                  <a:srgbClr val="157f3c"/>
                </a:solidFill>
                <a:latin typeface="Segoe UI"/>
              </a:rPr>
              <a:t>✓  </a:t>
            </a:r>
            <a:r>
              <a:rPr b="0" lang="en-US" sz="1300" spc="-1" strike="noStrike">
                <a:solidFill>
                  <a:srgbClr val="64748b"/>
                </a:solidFill>
                <a:latin typeface="Segoe UI"/>
              </a:rPr>
              <a:t>Visible objects, markings and transcribed text</a:t>
            </a:r>
            <a:endParaRPr b="0" lang="en-US" sz="1300" spc="-1" strike="noStrike">
              <a:solidFill>
                <a:srgbClr val="000000"/>
              </a:solidFill>
              <a:latin typeface="Arial"/>
            </a:endParaRPr>
          </a:p>
          <a:p>
            <a:pPr defTabSz="457200">
              <a:lnSpc>
                <a:spcPct val="125000"/>
              </a:lnSpc>
              <a:spcAft>
                <a:spcPts val="1001"/>
              </a:spcAft>
            </a:pPr>
            <a:r>
              <a:rPr b="1" lang="en-US" sz="1300" spc="-1" strike="noStrike">
                <a:solidFill>
                  <a:srgbClr val="157f3c"/>
                </a:solidFill>
                <a:latin typeface="Segoe UI"/>
              </a:rPr>
              <a:t>✓  </a:t>
            </a:r>
            <a:r>
              <a:rPr b="0" lang="en-US" sz="1300" spc="-1" strike="noStrike">
                <a:solidFill>
                  <a:srgbClr val="64748b"/>
                </a:solidFill>
                <a:latin typeface="Segoe UI"/>
              </a:rPr>
              <a:t>Warnings when something degraded</a:t>
            </a:r>
            <a:endParaRPr b="0" lang="en-US" sz="1300" spc="-1" strike="noStrike">
              <a:solidFill>
                <a:srgbClr val="000000"/>
              </a:solidFill>
              <a:latin typeface="Arial"/>
            </a:endParaRPr>
          </a:p>
        </p:txBody>
      </p:sp>
      <p:sp>
        <p:nvSpPr>
          <p:cNvPr id="134" name="Rectangle 10"/>
          <p:cNvSpPr/>
          <p:nvPr/>
        </p:nvSpPr>
        <p:spPr>
          <a:xfrm>
            <a:off x="6263640" y="2352960"/>
            <a:ext cx="5147280" cy="2212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 name="Rectangle 11"/>
          <p:cNvSpPr/>
          <p:nvPr/>
        </p:nvSpPr>
        <p:spPr>
          <a:xfrm>
            <a:off x="6263640" y="2352960"/>
            <a:ext cx="5147280" cy="4968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6" name="TextBox 12"/>
          <p:cNvSpPr/>
          <p:nvPr/>
        </p:nvSpPr>
        <p:spPr>
          <a:xfrm>
            <a:off x="6556320" y="2608920"/>
            <a:ext cx="4580280" cy="17884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1301"/>
              </a:spcAft>
            </a:pPr>
            <a:r>
              <a:rPr b="1" lang="en-US" sz="1500" spc="-1" strike="noStrike">
                <a:solidFill>
                  <a:srgbClr val="0f172a"/>
                </a:solidFill>
                <a:latin typeface="Segoe UI"/>
              </a:rPr>
              <a:t>What it deliberately refuses to do</a:t>
            </a:r>
            <a:endParaRPr b="0" lang="en-US" sz="1500" spc="-1" strike="noStrike">
              <a:solidFill>
                <a:srgbClr val="000000"/>
              </a:solidFill>
              <a:latin typeface="Arial"/>
            </a:endParaRPr>
          </a:p>
          <a:p>
            <a:pPr defTabSz="457200">
              <a:lnSpc>
                <a:spcPct val="125000"/>
              </a:lnSpc>
              <a:spcAft>
                <a:spcPts val="1001"/>
              </a:spcAft>
            </a:pPr>
            <a:r>
              <a:rPr b="1" lang="en-US" sz="1300" spc="-1" strike="noStrike">
                <a:solidFill>
                  <a:srgbClr val="c2410c"/>
                </a:solidFill>
                <a:latin typeface="Segoe UI"/>
              </a:rPr>
              <a:t>✗  </a:t>
            </a:r>
            <a:r>
              <a:rPr b="0" lang="en-US" sz="1300" spc="-1" strike="noStrike">
                <a:solidFill>
                  <a:srgbClr val="64748b"/>
                </a:solidFill>
                <a:latin typeface="Segoe UI"/>
              </a:rPr>
              <a:t>Classify a document into a category</a:t>
            </a:r>
            <a:endParaRPr b="0" lang="en-US" sz="1300" spc="-1" strike="noStrike">
              <a:solidFill>
                <a:srgbClr val="000000"/>
              </a:solidFill>
              <a:latin typeface="Arial"/>
            </a:endParaRPr>
          </a:p>
          <a:p>
            <a:pPr defTabSz="457200">
              <a:lnSpc>
                <a:spcPct val="125000"/>
              </a:lnSpc>
              <a:spcAft>
                <a:spcPts val="1001"/>
              </a:spcAft>
            </a:pPr>
            <a:r>
              <a:rPr b="1" lang="en-US" sz="1300" spc="-1" strike="noStrike">
                <a:solidFill>
                  <a:srgbClr val="c2410c"/>
                </a:solidFill>
                <a:latin typeface="Segoe UI"/>
              </a:rPr>
              <a:t>✗  </a:t>
            </a:r>
            <a:r>
              <a:rPr b="0" lang="en-US" sz="1300" spc="-1" strike="noStrike">
                <a:solidFill>
                  <a:srgbClr val="64748b"/>
                </a:solidFill>
                <a:latin typeface="Segoe UI"/>
              </a:rPr>
              <a:t>Score, rate or judge what it found</a:t>
            </a:r>
            <a:endParaRPr b="0" lang="en-US" sz="1300" spc="-1" strike="noStrike">
              <a:solidFill>
                <a:srgbClr val="000000"/>
              </a:solidFill>
              <a:latin typeface="Arial"/>
            </a:endParaRPr>
          </a:p>
          <a:p>
            <a:pPr defTabSz="457200">
              <a:lnSpc>
                <a:spcPct val="125000"/>
              </a:lnSpc>
              <a:spcAft>
                <a:spcPts val="1001"/>
              </a:spcAft>
            </a:pPr>
            <a:r>
              <a:rPr b="1" lang="en-US" sz="1300" spc="-1" strike="noStrike">
                <a:solidFill>
                  <a:srgbClr val="c2410c"/>
                </a:solidFill>
                <a:latin typeface="Segoe UI"/>
              </a:rPr>
              <a:t>✗  </a:t>
            </a:r>
            <a:r>
              <a:rPr b="0" lang="en-US" sz="1300" spc="-1" strike="noStrike">
                <a:solidFill>
                  <a:srgbClr val="64748b"/>
                </a:solidFill>
                <a:latin typeface="Segoe UI"/>
              </a:rPr>
              <a:t>Infer purpose or intent from an image</a:t>
            </a:r>
            <a:endParaRPr b="0" lang="en-US" sz="1300" spc="-1" strike="noStrike">
              <a:solidFill>
                <a:srgbClr val="000000"/>
              </a:solidFill>
              <a:latin typeface="Arial"/>
            </a:endParaRPr>
          </a:p>
          <a:p>
            <a:pPr defTabSz="457200">
              <a:lnSpc>
                <a:spcPct val="125000"/>
              </a:lnSpc>
              <a:spcAft>
                <a:spcPts val="1001"/>
              </a:spcAft>
            </a:pPr>
            <a:r>
              <a:rPr b="1" lang="en-US" sz="1300" spc="-1" strike="noStrike">
                <a:solidFill>
                  <a:srgbClr val="c2410c"/>
                </a:solidFill>
                <a:latin typeface="Segoe UI"/>
              </a:rPr>
              <a:t>✗  </a:t>
            </a:r>
            <a:r>
              <a:rPr b="0" lang="en-US" sz="1300" spc="-1" strike="noStrike">
                <a:solidFill>
                  <a:srgbClr val="64748b"/>
                </a:solidFill>
                <a:latin typeface="Segoe UI"/>
              </a:rPr>
              <a:t>Assert anything not visible in the file</a:t>
            </a:r>
            <a:endParaRPr b="0" lang="en-US" sz="1300" spc="-1" strike="noStrike">
              <a:solidFill>
                <a:srgbClr val="000000"/>
              </a:solidFill>
              <a:latin typeface="Arial"/>
            </a:endParaRPr>
          </a:p>
        </p:txBody>
      </p:sp>
      <p:sp>
        <p:nvSpPr>
          <p:cNvPr id="137" name="Rectangle 13"/>
          <p:cNvSpPr/>
          <p:nvPr/>
        </p:nvSpPr>
        <p:spPr>
          <a:xfrm>
            <a:off x="777240" y="4840200"/>
            <a:ext cx="10636560" cy="1188000"/>
          </a:xfrm>
          <a:prstGeom prst="rect">
            <a:avLst/>
          </a:prstGeom>
          <a:solidFill>
            <a:srgbClr val="f1f5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8" name="Rectangle 14"/>
          <p:cNvSpPr/>
          <p:nvPr/>
        </p:nvSpPr>
        <p:spPr>
          <a:xfrm>
            <a:off x="777240" y="4840200"/>
            <a:ext cx="49680" cy="118800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9" name="TextBox 15"/>
          <p:cNvSpPr/>
          <p:nvPr/>
        </p:nvSpPr>
        <p:spPr>
          <a:xfrm>
            <a:off x="1097280" y="5023080"/>
            <a:ext cx="9950760" cy="105660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700"/>
              </a:spcAft>
            </a:pPr>
            <a:r>
              <a:rPr b="1" lang="en-US" sz="1350" spc="-1" strike="noStrike">
                <a:solidFill>
                  <a:srgbClr val="0f172a"/>
                </a:solidFill>
                <a:latin typeface="Segoe UI"/>
              </a:rPr>
              <a:t>Why this matters when an agent is the consumer</a:t>
            </a:r>
            <a:endParaRPr b="0" lang="en-US" sz="1350" spc="-1" strike="noStrike">
              <a:solidFill>
                <a:srgbClr val="000000"/>
              </a:solidFill>
              <a:latin typeface="Arial"/>
            </a:endParaRPr>
          </a:p>
          <a:p>
            <a:pPr defTabSz="457200">
              <a:lnSpc>
                <a:spcPct val="130000"/>
              </a:lnSpc>
            </a:pPr>
            <a:r>
              <a:rPr b="0" lang="en-US" sz="1250" spc="-1" strike="noStrike">
                <a:solidFill>
                  <a:srgbClr val="64748b"/>
                </a:solidFill>
                <a:latin typeface="Segoe UI"/>
              </a:rPr>
              <a:t>All the semantics live in one place — your agent's prompt — instead of being quietly baked into an extraction layer you cannot inspect. The same extraction then feeds many different agents with different goals, and when the reasoning is wrong you know exactly which layer to fix.</a:t>
            </a:r>
            <a:endParaRPr b="0" lang="en-US" sz="1250" spc="-1" strike="noStrike">
              <a:solidFill>
                <a:srgbClr val="000000"/>
              </a:solidFill>
              <a:latin typeface="Arial"/>
            </a:endParaRPr>
          </a:p>
        </p:txBody>
      </p:sp>
      <p:sp>
        <p:nvSpPr>
          <p:cNvPr id="140" name="TextBox 16"/>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4</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1"/>
          <p:cNvSpPr/>
          <p:nvPr/>
        </p:nvSpPr>
        <p:spPr>
          <a:xfrm>
            <a:off x="0" y="0"/>
            <a:ext cx="12191040" cy="6857280"/>
          </a:xfrm>
          <a:prstGeom prst="rect">
            <a:avLst/>
          </a:prstGeom>
          <a:solidFill>
            <a:srgbClr val="0b12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Rectangle 2"/>
          <p:cNvSpPr/>
          <p:nvPr/>
        </p:nvSpPr>
        <p:spPr>
          <a:xfrm>
            <a:off x="0" y="0"/>
            <a:ext cx="273600" cy="685728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3" name="TextBox 3"/>
          <p:cNvSpPr/>
          <p:nvPr/>
        </p:nvSpPr>
        <p:spPr>
          <a:xfrm>
            <a:off x="1371600" y="2240280"/>
            <a:ext cx="2925360" cy="115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7600" spc="-1" strike="noStrike">
                <a:solidFill>
                  <a:srgbClr val="172440"/>
                </a:solidFill>
                <a:latin typeface="Segoe UI"/>
              </a:rPr>
              <a:t>01</a:t>
            </a:r>
            <a:endParaRPr b="0" lang="en-US" sz="7600" spc="-1" strike="noStrike">
              <a:solidFill>
                <a:srgbClr val="000000"/>
              </a:solidFill>
              <a:latin typeface="Arial"/>
            </a:endParaRPr>
          </a:p>
        </p:txBody>
      </p:sp>
      <p:sp>
        <p:nvSpPr>
          <p:cNvPr id="144" name="TextBox 4"/>
          <p:cNvSpPr/>
          <p:nvPr/>
        </p:nvSpPr>
        <p:spPr>
          <a:xfrm>
            <a:off x="1371600" y="3246120"/>
            <a:ext cx="8686080" cy="639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4000" spc="-1" strike="noStrike">
                <a:solidFill>
                  <a:srgbClr val="ffffff"/>
                </a:solidFill>
                <a:latin typeface="Segoe UI"/>
              </a:rPr>
              <a:t>Working with AI agents</a:t>
            </a:r>
            <a:endParaRPr b="0" lang="en-US" sz="4000" spc="-1" strike="noStrike">
              <a:solidFill>
                <a:srgbClr val="000000"/>
              </a:solidFill>
              <a:latin typeface="Arial"/>
            </a:endParaRPr>
          </a:p>
        </p:txBody>
      </p:sp>
      <p:sp>
        <p:nvSpPr>
          <p:cNvPr id="145" name="Rectangle 5"/>
          <p:cNvSpPr/>
          <p:nvPr/>
        </p:nvSpPr>
        <p:spPr>
          <a:xfrm>
            <a:off x="1371600" y="4224600"/>
            <a:ext cx="1279440" cy="4032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6" name="TextBox 6"/>
          <p:cNvSpPr/>
          <p:nvPr/>
        </p:nvSpPr>
        <p:spPr>
          <a:xfrm>
            <a:off x="1371600" y="4498920"/>
            <a:ext cx="8228880" cy="29700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500" spc="-1" strike="noStrike">
                <a:solidFill>
                  <a:srgbClr val="94a3b8"/>
                </a:solidFill>
                <a:latin typeface="Segoe UI"/>
              </a:rPr>
              <a:t>What it unlocks, and why the output shape is the point</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8"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INTEGRATION</a:t>
            </a:r>
            <a:endParaRPr b="0" lang="en-US" sz="1150" spc="-1" strike="noStrike">
              <a:solidFill>
                <a:srgbClr val="000000"/>
              </a:solidFill>
              <a:latin typeface="Arial"/>
            </a:endParaRPr>
          </a:p>
        </p:txBody>
      </p:sp>
      <p:sp>
        <p:nvSpPr>
          <p:cNvPr id="150"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One tool in the agent's toolbelt</a:t>
            </a:r>
            <a:endParaRPr b="0" lang="en-US" sz="3000" spc="-1" strike="noStrike">
              <a:solidFill>
                <a:srgbClr val="000000"/>
              </a:solidFill>
              <a:latin typeface="Arial"/>
            </a:endParaRPr>
          </a:p>
        </p:txBody>
      </p:sp>
      <p:sp>
        <p:nvSpPr>
          <p:cNvPr id="151"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Exposed to the agent as a single callable function — over native tool calling, or wrapped behind an MCP server.</a:t>
            </a:r>
            <a:endParaRPr b="0" lang="en-US" sz="1450" spc="-1" strike="noStrike">
              <a:solidFill>
                <a:srgbClr val="000000"/>
              </a:solidFill>
              <a:latin typeface="Arial"/>
            </a:endParaRPr>
          </a:p>
        </p:txBody>
      </p:sp>
      <p:sp>
        <p:nvSpPr>
          <p:cNvPr id="152"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53" name="Rectangle 7"/>
          <p:cNvSpPr/>
          <p:nvPr/>
        </p:nvSpPr>
        <p:spPr>
          <a:xfrm>
            <a:off x="777240" y="2352960"/>
            <a:ext cx="2452680" cy="18738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 name="Rectangle 8"/>
          <p:cNvSpPr/>
          <p:nvPr/>
        </p:nvSpPr>
        <p:spPr>
          <a:xfrm>
            <a:off x="777240" y="2352960"/>
            <a:ext cx="45000" cy="18738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5" name="TextBox 9"/>
          <p:cNvSpPr/>
          <p:nvPr/>
        </p:nvSpPr>
        <p:spPr>
          <a:xfrm>
            <a:off x="1051560" y="2572200"/>
            <a:ext cx="1949760" cy="1189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400"/>
              </a:spcAft>
            </a:pPr>
            <a:r>
              <a:rPr b="1" lang="en-US" sz="1100" spc="-1" strike="noStrike">
                <a:solidFill>
                  <a:srgbClr val="1d4ed8"/>
                </a:solidFill>
                <a:latin typeface="Segoe UI"/>
              </a:rPr>
              <a:t>STEP 1</a:t>
            </a:r>
            <a:endParaRPr b="0" lang="en-US" sz="1100" spc="-1" strike="noStrike">
              <a:solidFill>
                <a:srgbClr val="000000"/>
              </a:solidFill>
              <a:latin typeface="Arial"/>
            </a:endParaRPr>
          </a:p>
          <a:p>
            <a:pPr defTabSz="457200">
              <a:lnSpc>
                <a:spcPct val="115000"/>
              </a:lnSpc>
              <a:spcAft>
                <a:spcPts val="499"/>
              </a:spcAft>
            </a:pPr>
            <a:r>
              <a:rPr b="1" lang="en-US" sz="1400" spc="-1" strike="noStrike">
                <a:solidFill>
                  <a:srgbClr val="0f172a"/>
                </a:solidFill>
                <a:latin typeface="Segoe UI"/>
              </a:rPr>
              <a:t>User attaches files</a:t>
            </a:r>
            <a:endParaRPr b="0" lang="en-US" sz="1400" spc="-1" strike="noStrike">
              <a:solidFill>
                <a:srgbClr val="000000"/>
              </a:solidFill>
              <a:latin typeface="Arial"/>
            </a:endParaRPr>
          </a:p>
          <a:p>
            <a:pPr defTabSz="457200">
              <a:lnSpc>
                <a:spcPct val="126000"/>
              </a:lnSpc>
            </a:pPr>
            <a:r>
              <a:rPr b="0" lang="en-US" sz="1150" spc="-1" strike="noStrike">
                <a:solidFill>
                  <a:srgbClr val="64748b"/>
                </a:solidFill>
                <a:latin typeface="Segoe UI"/>
              </a:rPr>
              <a:t>A chat turn arrives with a PDF, a spreadsheet and two photos.</a:t>
            </a:r>
            <a:endParaRPr b="0" lang="en-US" sz="1150" spc="-1" strike="noStrike">
              <a:solidFill>
                <a:srgbClr val="000000"/>
              </a:solidFill>
              <a:latin typeface="Arial"/>
            </a:endParaRPr>
          </a:p>
        </p:txBody>
      </p:sp>
      <p:sp>
        <p:nvSpPr>
          <p:cNvPr id="156" name="Isosceles Triangle 10"/>
          <p:cNvSpPr/>
          <p:nvPr/>
        </p:nvSpPr>
        <p:spPr>
          <a:xfrm rot="5400000">
            <a:off x="3258720" y="3180600"/>
            <a:ext cx="218880" cy="21888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 name="Rectangle 11"/>
          <p:cNvSpPr/>
          <p:nvPr/>
        </p:nvSpPr>
        <p:spPr>
          <a:xfrm>
            <a:off x="3504960" y="2352960"/>
            <a:ext cx="2452680" cy="18738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 name="Rectangle 12"/>
          <p:cNvSpPr/>
          <p:nvPr/>
        </p:nvSpPr>
        <p:spPr>
          <a:xfrm>
            <a:off x="3504960" y="2352960"/>
            <a:ext cx="45000" cy="18738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 name="TextBox 13"/>
          <p:cNvSpPr/>
          <p:nvPr/>
        </p:nvSpPr>
        <p:spPr>
          <a:xfrm>
            <a:off x="3779280" y="2572200"/>
            <a:ext cx="1949760" cy="9684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400"/>
              </a:spcAft>
            </a:pPr>
            <a:r>
              <a:rPr b="1" lang="en-US" sz="1100" spc="-1" strike="noStrike">
                <a:solidFill>
                  <a:srgbClr val="1d4ed8"/>
                </a:solidFill>
                <a:latin typeface="Segoe UI"/>
              </a:rPr>
              <a:t>STEP 2</a:t>
            </a:r>
            <a:endParaRPr b="0" lang="en-US" sz="1100" spc="-1" strike="noStrike">
              <a:solidFill>
                <a:srgbClr val="000000"/>
              </a:solidFill>
              <a:latin typeface="Arial"/>
            </a:endParaRPr>
          </a:p>
          <a:p>
            <a:pPr defTabSz="457200">
              <a:lnSpc>
                <a:spcPct val="115000"/>
              </a:lnSpc>
              <a:spcAft>
                <a:spcPts val="499"/>
              </a:spcAft>
            </a:pPr>
            <a:r>
              <a:rPr b="1" lang="en-US" sz="1400" spc="-1" strike="noStrike">
                <a:solidFill>
                  <a:srgbClr val="0f172a"/>
                </a:solidFill>
                <a:latin typeface="Segoe UI"/>
              </a:rPr>
              <a:t>Agent calls the tool</a:t>
            </a:r>
            <a:endParaRPr b="0" lang="en-US" sz="1400" spc="-1" strike="noStrike">
              <a:solidFill>
                <a:srgbClr val="000000"/>
              </a:solidFill>
              <a:latin typeface="Arial"/>
            </a:endParaRPr>
          </a:p>
          <a:p>
            <a:pPr defTabSz="457200">
              <a:lnSpc>
                <a:spcPct val="126000"/>
              </a:lnSpc>
            </a:pPr>
            <a:r>
              <a:rPr b="0" lang="en-US" sz="1150" spc="-1" strike="noStrike">
                <a:solidFill>
                  <a:srgbClr val="64748b"/>
                </a:solidFill>
                <a:latin typeface="Segoe UI"/>
              </a:rPr>
              <a:t>One call, all four files, with an optional per-file hint.</a:t>
            </a:r>
            <a:endParaRPr b="0" lang="en-US" sz="1150" spc="-1" strike="noStrike">
              <a:solidFill>
                <a:srgbClr val="000000"/>
              </a:solidFill>
              <a:latin typeface="Arial"/>
            </a:endParaRPr>
          </a:p>
        </p:txBody>
      </p:sp>
      <p:sp>
        <p:nvSpPr>
          <p:cNvPr id="160" name="Isosceles Triangle 14"/>
          <p:cNvSpPr/>
          <p:nvPr/>
        </p:nvSpPr>
        <p:spPr>
          <a:xfrm rot="5400000">
            <a:off x="5986800" y="3180600"/>
            <a:ext cx="218880" cy="21888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 name="Rectangle 15"/>
          <p:cNvSpPr/>
          <p:nvPr/>
        </p:nvSpPr>
        <p:spPr>
          <a:xfrm>
            <a:off x="6233040" y="2352960"/>
            <a:ext cx="2452680" cy="18738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Rectangle 16"/>
          <p:cNvSpPr/>
          <p:nvPr/>
        </p:nvSpPr>
        <p:spPr>
          <a:xfrm>
            <a:off x="6233040" y="2352960"/>
            <a:ext cx="45000" cy="18738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 name="TextBox 17"/>
          <p:cNvSpPr/>
          <p:nvPr/>
        </p:nvSpPr>
        <p:spPr>
          <a:xfrm>
            <a:off x="6507360" y="2572200"/>
            <a:ext cx="1949760" cy="1189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400"/>
              </a:spcAft>
            </a:pPr>
            <a:r>
              <a:rPr b="1" lang="en-US" sz="1100" spc="-1" strike="noStrike">
                <a:solidFill>
                  <a:srgbClr val="1d4ed8"/>
                </a:solidFill>
                <a:latin typeface="Segoe UI"/>
              </a:rPr>
              <a:t>STEP 3</a:t>
            </a:r>
            <a:endParaRPr b="0" lang="en-US" sz="1100" spc="-1" strike="noStrike">
              <a:solidFill>
                <a:srgbClr val="000000"/>
              </a:solidFill>
              <a:latin typeface="Arial"/>
            </a:endParaRPr>
          </a:p>
          <a:p>
            <a:pPr defTabSz="457200">
              <a:lnSpc>
                <a:spcPct val="115000"/>
              </a:lnSpc>
              <a:spcAft>
                <a:spcPts val="499"/>
              </a:spcAft>
            </a:pPr>
            <a:r>
              <a:rPr b="1" lang="en-US" sz="1400" spc="-1" strike="noStrike">
                <a:solidFill>
                  <a:srgbClr val="0f172a"/>
                </a:solidFill>
                <a:latin typeface="Segoe UI"/>
              </a:rPr>
              <a:t>Service extracts</a:t>
            </a:r>
            <a:endParaRPr b="0" lang="en-US" sz="1400" spc="-1" strike="noStrike">
              <a:solidFill>
                <a:srgbClr val="000000"/>
              </a:solidFill>
              <a:latin typeface="Arial"/>
            </a:endParaRPr>
          </a:p>
          <a:p>
            <a:pPr defTabSz="457200">
              <a:lnSpc>
                <a:spcPct val="126000"/>
              </a:lnSpc>
            </a:pPr>
            <a:r>
              <a:rPr b="0" lang="en-US" sz="1150" spc="-1" strike="noStrike">
                <a:solidFill>
                  <a:srgbClr val="64748b"/>
                </a:solidFill>
                <a:latin typeface="Segoe UI"/>
              </a:rPr>
              <a:t>Each file routed to the engine for its kind, in parallel.</a:t>
            </a:r>
            <a:endParaRPr b="0" lang="en-US" sz="1150" spc="-1" strike="noStrike">
              <a:solidFill>
                <a:srgbClr val="000000"/>
              </a:solidFill>
              <a:latin typeface="Arial"/>
            </a:endParaRPr>
          </a:p>
        </p:txBody>
      </p:sp>
      <p:sp>
        <p:nvSpPr>
          <p:cNvPr id="164" name="Isosceles Triangle 18"/>
          <p:cNvSpPr/>
          <p:nvPr/>
        </p:nvSpPr>
        <p:spPr>
          <a:xfrm rot="5400000">
            <a:off x="8714520" y="3180600"/>
            <a:ext cx="218880" cy="21888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5" name="Rectangle 19"/>
          <p:cNvSpPr/>
          <p:nvPr/>
        </p:nvSpPr>
        <p:spPr>
          <a:xfrm>
            <a:off x="8960760" y="2352960"/>
            <a:ext cx="2452680" cy="18738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 name="Rectangle 20"/>
          <p:cNvSpPr/>
          <p:nvPr/>
        </p:nvSpPr>
        <p:spPr>
          <a:xfrm>
            <a:off x="8960760" y="2352960"/>
            <a:ext cx="45000" cy="18738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7" name="TextBox 21"/>
          <p:cNvSpPr/>
          <p:nvPr/>
        </p:nvSpPr>
        <p:spPr>
          <a:xfrm>
            <a:off x="9235080" y="2572200"/>
            <a:ext cx="1949760" cy="11890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400"/>
              </a:spcAft>
            </a:pPr>
            <a:r>
              <a:rPr b="1" lang="en-US" sz="1100" spc="-1" strike="noStrike">
                <a:solidFill>
                  <a:srgbClr val="1d4ed8"/>
                </a:solidFill>
                <a:latin typeface="Segoe UI"/>
              </a:rPr>
              <a:t>STEP 4</a:t>
            </a:r>
            <a:endParaRPr b="0" lang="en-US" sz="1100" spc="-1" strike="noStrike">
              <a:solidFill>
                <a:srgbClr val="000000"/>
              </a:solidFill>
              <a:latin typeface="Arial"/>
            </a:endParaRPr>
          </a:p>
          <a:p>
            <a:pPr defTabSz="457200">
              <a:lnSpc>
                <a:spcPct val="115000"/>
              </a:lnSpc>
              <a:spcAft>
                <a:spcPts val="499"/>
              </a:spcAft>
            </a:pPr>
            <a:r>
              <a:rPr b="1" lang="en-US" sz="1400" spc="-1" strike="noStrike">
                <a:solidFill>
                  <a:srgbClr val="0f172a"/>
                </a:solidFill>
                <a:latin typeface="Segoe UI"/>
              </a:rPr>
              <a:t>Agent reasons</a:t>
            </a:r>
            <a:endParaRPr b="0" lang="en-US" sz="1400" spc="-1" strike="noStrike">
              <a:solidFill>
                <a:srgbClr val="000000"/>
              </a:solidFill>
              <a:latin typeface="Arial"/>
            </a:endParaRPr>
          </a:p>
          <a:p>
            <a:pPr defTabSz="457200">
              <a:lnSpc>
                <a:spcPct val="126000"/>
              </a:lnSpc>
            </a:pPr>
            <a:r>
              <a:rPr b="0" lang="en-US" sz="1150" spc="-1" strike="noStrike">
                <a:solidFill>
                  <a:srgbClr val="64748b"/>
                </a:solidFill>
                <a:latin typeface="Segoe UI"/>
              </a:rPr>
              <a:t>Markdown and typed rows land back in context as ordinary text.</a:t>
            </a:r>
            <a:endParaRPr b="0" lang="en-US" sz="1150" spc="-1" strike="noStrike">
              <a:solidFill>
                <a:srgbClr val="000000"/>
              </a:solidFill>
              <a:latin typeface="Arial"/>
            </a:endParaRPr>
          </a:p>
        </p:txBody>
      </p:sp>
      <p:sp>
        <p:nvSpPr>
          <p:cNvPr id="168" name="Rectangle 22"/>
          <p:cNvSpPr/>
          <p:nvPr/>
        </p:nvSpPr>
        <p:spPr>
          <a:xfrm>
            <a:off x="777240" y="4538160"/>
            <a:ext cx="10636560" cy="163368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9" name="TextBox 23"/>
          <p:cNvSpPr/>
          <p:nvPr/>
        </p:nvSpPr>
        <p:spPr>
          <a:xfrm>
            <a:off x="1097280" y="4739400"/>
            <a:ext cx="4937040" cy="90540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901"/>
              </a:spcAft>
            </a:pPr>
            <a:r>
              <a:rPr b="1" lang="en-US" sz="1350" spc="-1" strike="noStrike">
                <a:solidFill>
                  <a:srgbClr val="0f172a"/>
                </a:solidFill>
                <a:latin typeface="Segoe UI"/>
              </a:rPr>
              <a:t>What makes it tool-shaped</a:t>
            </a:r>
            <a:endParaRPr b="0" lang="en-US" sz="1350" spc="-1" strike="noStrike">
              <a:solidFill>
                <a:srgbClr val="000000"/>
              </a:solidFill>
              <a:latin typeface="Arial"/>
            </a:endParaRPr>
          </a:p>
          <a:p>
            <a:pPr defTabSz="457200">
              <a:lnSpc>
                <a:spcPct val="125000"/>
              </a:lnSpc>
              <a:spcAft>
                <a:spcPts val="700"/>
              </a:spcAft>
            </a:pPr>
            <a:r>
              <a:rPr b="1" lang="en-US" sz="1250" spc="-1" strike="noStrike">
                <a:solidFill>
                  <a:srgbClr val="1d4ed8"/>
                </a:solidFill>
                <a:latin typeface="Segoe UI"/>
              </a:rPr>
              <a:t>·  </a:t>
            </a:r>
            <a:r>
              <a:rPr b="0" lang="en-US" sz="1250" spc="-1" strike="noStrike">
                <a:solidFill>
                  <a:srgbClr val="64748b"/>
                </a:solidFill>
                <a:latin typeface="Segoe UI"/>
              </a:rPr>
              <a:t>Synchronous — no polling, no job handles, no callbacks</a:t>
            </a:r>
            <a:endParaRPr b="0" lang="en-US" sz="1250" spc="-1" strike="noStrike">
              <a:solidFill>
                <a:srgbClr val="000000"/>
              </a:solidFill>
              <a:latin typeface="Arial"/>
            </a:endParaRPr>
          </a:p>
          <a:p>
            <a:pPr defTabSz="457200">
              <a:lnSpc>
                <a:spcPct val="125000"/>
              </a:lnSpc>
              <a:spcAft>
                <a:spcPts val="700"/>
              </a:spcAft>
            </a:pPr>
            <a:r>
              <a:rPr b="1" lang="en-US" sz="1250" spc="-1" strike="noStrike">
                <a:solidFill>
                  <a:srgbClr val="1d4ed8"/>
                </a:solidFill>
                <a:latin typeface="Segoe UI"/>
              </a:rPr>
              <a:t>·  </a:t>
            </a:r>
            <a:r>
              <a:rPr b="0" lang="en-US" sz="1250" spc="-1" strike="noStrike">
                <a:solidFill>
                  <a:srgbClr val="64748b"/>
                </a:solidFill>
                <a:latin typeface="Segoe UI"/>
              </a:rPr>
              <a:t>Batched — one call covers the whole attachment set</a:t>
            </a:r>
            <a:endParaRPr b="0" lang="en-US" sz="1250" spc="-1" strike="noStrike">
              <a:solidFill>
                <a:srgbClr val="000000"/>
              </a:solidFill>
              <a:latin typeface="Arial"/>
            </a:endParaRPr>
          </a:p>
        </p:txBody>
      </p:sp>
      <p:sp>
        <p:nvSpPr>
          <p:cNvPr id="170" name="TextBox 25"/>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6</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USE CASES</a:t>
            </a:r>
            <a:endParaRPr b="0" lang="en-US" sz="1150" spc="-1" strike="noStrike">
              <a:solidFill>
                <a:srgbClr val="000000"/>
              </a:solidFill>
              <a:latin typeface="Arial"/>
            </a:endParaRPr>
          </a:p>
        </p:txBody>
      </p:sp>
      <p:sp>
        <p:nvSpPr>
          <p:cNvPr id="174"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What agents build on top of it</a:t>
            </a:r>
            <a:endParaRPr b="0" lang="en-US" sz="3000" spc="-1" strike="noStrike">
              <a:solidFill>
                <a:srgbClr val="000000"/>
              </a:solidFill>
              <a:latin typeface="Arial"/>
            </a:endParaRPr>
          </a:p>
        </p:txBody>
      </p:sp>
      <p:sp>
        <p:nvSpPr>
          <p:cNvPr id="175"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Anything where the reasoning is easy but the reading is hard.</a:t>
            </a:r>
            <a:endParaRPr b="0" lang="en-US" sz="1450" spc="-1" strike="noStrike">
              <a:solidFill>
                <a:srgbClr val="000000"/>
              </a:solidFill>
              <a:latin typeface="Arial"/>
            </a:endParaRPr>
          </a:p>
        </p:txBody>
      </p:sp>
      <p:sp>
        <p:nvSpPr>
          <p:cNvPr id="176"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77" name="Rectangle 7"/>
          <p:cNvSpPr/>
          <p:nvPr/>
        </p:nvSpPr>
        <p:spPr>
          <a:xfrm>
            <a:off x="777240" y="2352960"/>
            <a:ext cx="3374280" cy="1663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 name="Rectangle 8"/>
          <p:cNvSpPr/>
          <p:nvPr/>
        </p:nvSpPr>
        <p:spPr>
          <a:xfrm>
            <a:off x="777240" y="2352960"/>
            <a:ext cx="45000" cy="166356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9" name="TextBox 9"/>
          <p:cNvSpPr/>
          <p:nvPr/>
        </p:nvSpPr>
        <p:spPr>
          <a:xfrm>
            <a:off x="1051560" y="2572200"/>
            <a:ext cx="2871360" cy="126288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Document Q&amp;A over mixed uploads</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Answer questions spanning a PDF manual, a spreadsheet and a photo in the same turn.</a:t>
            </a:r>
            <a:endParaRPr b="0" lang="en-US" sz="1200" spc="-1" strike="noStrike">
              <a:solidFill>
                <a:srgbClr val="000000"/>
              </a:solidFill>
              <a:latin typeface="Arial"/>
            </a:endParaRPr>
          </a:p>
        </p:txBody>
      </p:sp>
      <p:sp>
        <p:nvSpPr>
          <p:cNvPr id="180" name="Rectangle 10"/>
          <p:cNvSpPr/>
          <p:nvPr/>
        </p:nvSpPr>
        <p:spPr>
          <a:xfrm>
            <a:off x="4408200" y="2352960"/>
            <a:ext cx="3374280" cy="1663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1" name="Rectangle 11"/>
          <p:cNvSpPr/>
          <p:nvPr/>
        </p:nvSpPr>
        <p:spPr>
          <a:xfrm>
            <a:off x="4408200" y="2352960"/>
            <a:ext cx="45000" cy="166356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 name="TextBox 12"/>
          <p:cNvSpPr/>
          <p:nvPr/>
        </p:nvSpPr>
        <p:spPr>
          <a:xfrm>
            <a:off x="4682520" y="2572200"/>
            <a:ext cx="2871360" cy="126288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Spreadsheet analysis and reconciliation</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Compare quantities and prices across workbooks with numbers the agent can actually compute on.</a:t>
            </a:r>
            <a:endParaRPr b="0" lang="en-US" sz="1200" spc="-1" strike="noStrike">
              <a:solidFill>
                <a:srgbClr val="000000"/>
              </a:solidFill>
              <a:latin typeface="Arial"/>
            </a:endParaRPr>
          </a:p>
        </p:txBody>
      </p:sp>
      <p:sp>
        <p:nvSpPr>
          <p:cNvPr id="183" name="Rectangle 13"/>
          <p:cNvSpPr/>
          <p:nvPr/>
        </p:nvSpPr>
        <p:spPr>
          <a:xfrm>
            <a:off x="8039520" y="2352960"/>
            <a:ext cx="3374280" cy="1663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 name="Rectangle 14"/>
          <p:cNvSpPr/>
          <p:nvPr/>
        </p:nvSpPr>
        <p:spPr>
          <a:xfrm>
            <a:off x="8039520" y="2352960"/>
            <a:ext cx="45000" cy="166356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5" name="TextBox 15"/>
          <p:cNvSpPr/>
          <p:nvPr/>
        </p:nvSpPr>
        <p:spPr>
          <a:xfrm>
            <a:off x="8313840" y="2572200"/>
            <a:ext cx="2871360" cy="10087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Structured data extraction</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Pull named fields out of unstructured documents into records, with the agent doing the mapping.</a:t>
            </a:r>
            <a:endParaRPr b="0" lang="en-US" sz="1200" spc="-1" strike="noStrike">
              <a:solidFill>
                <a:srgbClr val="000000"/>
              </a:solidFill>
              <a:latin typeface="Arial"/>
            </a:endParaRPr>
          </a:p>
        </p:txBody>
      </p:sp>
      <p:sp>
        <p:nvSpPr>
          <p:cNvPr id="186" name="Rectangle 16"/>
          <p:cNvSpPr/>
          <p:nvPr/>
        </p:nvSpPr>
        <p:spPr>
          <a:xfrm>
            <a:off x="777240" y="4273200"/>
            <a:ext cx="3374280" cy="1663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 name="Rectangle 17"/>
          <p:cNvSpPr/>
          <p:nvPr/>
        </p:nvSpPr>
        <p:spPr>
          <a:xfrm>
            <a:off x="777240" y="4273200"/>
            <a:ext cx="45000" cy="166356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 name="TextBox 18"/>
          <p:cNvSpPr/>
          <p:nvPr/>
        </p:nvSpPr>
        <p:spPr>
          <a:xfrm>
            <a:off x="1051560" y="4492440"/>
            <a:ext cx="2871360" cy="103248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Technical document summarisation</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Condense datasheets and specifications while keeping tables intact as tables.</a:t>
            </a:r>
            <a:endParaRPr b="0" lang="en-US" sz="1200" spc="-1" strike="noStrike">
              <a:solidFill>
                <a:srgbClr val="000000"/>
              </a:solidFill>
              <a:latin typeface="Arial"/>
            </a:endParaRPr>
          </a:p>
        </p:txBody>
      </p:sp>
      <p:sp>
        <p:nvSpPr>
          <p:cNvPr id="189" name="Rectangle 19"/>
          <p:cNvSpPr/>
          <p:nvPr/>
        </p:nvSpPr>
        <p:spPr>
          <a:xfrm>
            <a:off x="4408200" y="4273200"/>
            <a:ext cx="3374280" cy="1663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Rectangle 20"/>
          <p:cNvSpPr/>
          <p:nvPr/>
        </p:nvSpPr>
        <p:spPr>
          <a:xfrm>
            <a:off x="4408200" y="4273200"/>
            <a:ext cx="45000" cy="166356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1" name="TextBox 21"/>
          <p:cNvSpPr/>
          <p:nvPr/>
        </p:nvSpPr>
        <p:spPr>
          <a:xfrm>
            <a:off x="4682520" y="4492440"/>
            <a:ext cx="2871360" cy="7783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Photo-based capture</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Read labels, markings and printed codes off product or site photographs.</a:t>
            </a:r>
            <a:endParaRPr b="0" lang="en-US" sz="1200" spc="-1" strike="noStrike">
              <a:solidFill>
                <a:srgbClr val="000000"/>
              </a:solidFill>
              <a:latin typeface="Arial"/>
            </a:endParaRPr>
          </a:p>
        </p:txBody>
      </p:sp>
      <p:sp>
        <p:nvSpPr>
          <p:cNvPr id="192" name="Rectangle 22"/>
          <p:cNvSpPr/>
          <p:nvPr/>
        </p:nvSpPr>
        <p:spPr>
          <a:xfrm>
            <a:off x="8039520" y="4273200"/>
            <a:ext cx="3374280" cy="1663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3" name="Rectangle 23"/>
          <p:cNvSpPr/>
          <p:nvPr/>
        </p:nvSpPr>
        <p:spPr>
          <a:xfrm>
            <a:off x="8039520" y="4273200"/>
            <a:ext cx="45000" cy="166356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 name="TextBox 24"/>
          <p:cNvSpPr/>
          <p:nvPr/>
        </p:nvSpPr>
        <p:spPr>
          <a:xfrm>
            <a:off x="8313840" y="4492440"/>
            <a:ext cx="2871360" cy="10087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Cross-source verification</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Check that a figure in a document matches the figure in the accompanying workbook.</a:t>
            </a:r>
            <a:endParaRPr b="0" lang="en-US" sz="1200" spc="-1" strike="noStrike">
              <a:solidFill>
                <a:srgbClr val="000000"/>
              </a:solidFill>
              <a:latin typeface="Arial"/>
            </a:endParaRPr>
          </a:p>
        </p:txBody>
      </p:sp>
      <p:sp>
        <p:nvSpPr>
          <p:cNvPr id="195" name="TextBox 25"/>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7</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7"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OUTPUT DESIGN</a:t>
            </a:r>
            <a:endParaRPr b="0" lang="en-US" sz="1150" spc="-1" strike="noStrike">
              <a:solidFill>
                <a:srgbClr val="000000"/>
              </a:solidFill>
              <a:latin typeface="Arial"/>
            </a:endParaRPr>
          </a:p>
        </p:txBody>
      </p:sp>
      <p:sp>
        <p:nvSpPr>
          <p:cNvPr id="199"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Built to be read by a model</a:t>
            </a:r>
            <a:endParaRPr b="0" lang="en-US" sz="3000" spc="-1" strike="noStrike">
              <a:solidFill>
                <a:srgbClr val="000000"/>
              </a:solidFill>
              <a:latin typeface="Arial"/>
            </a:endParaRPr>
          </a:p>
        </p:txBody>
      </p:sp>
      <p:sp>
        <p:nvSpPr>
          <p:cNvPr id="200"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Two output shapes, each chosen for what a language model does well.</a:t>
            </a:r>
            <a:endParaRPr b="0" lang="en-US" sz="1450" spc="-1" strike="noStrike">
              <a:solidFill>
                <a:srgbClr val="000000"/>
              </a:solidFill>
              <a:latin typeface="Arial"/>
            </a:endParaRPr>
          </a:p>
        </p:txBody>
      </p:sp>
      <p:sp>
        <p:nvSpPr>
          <p:cNvPr id="201"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02" name="Rectangle 7"/>
          <p:cNvSpPr/>
          <p:nvPr/>
        </p:nvSpPr>
        <p:spPr>
          <a:xfrm>
            <a:off x="777240" y="2352960"/>
            <a:ext cx="5165640" cy="197424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3" name="Rectangle 8"/>
          <p:cNvSpPr/>
          <p:nvPr/>
        </p:nvSpPr>
        <p:spPr>
          <a:xfrm>
            <a:off x="777240" y="2352960"/>
            <a:ext cx="5165640" cy="4968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04" name="TextBox 9"/>
          <p:cNvSpPr/>
          <p:nvPr/>
        </p:nvSpPr>
        <p:spPr>
          <a:xfrm>
            <a:off x="1069920" y="2608920"/>
            <a:ext cx="4598640" cy="136764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1001"/>
              </a:spcAft>
            </a:pPr>
            <a:r>
              <a:rPr b="1" lang="en-US" sz="1500" spc="-1" strike="noStrike">
                <a:solidFill>
                  <a:srgbClr val="0f172a"/>
                </a:solidFill>
                <a:latin typeface="Segoe UI"/>
              </a:rPr>
              <a:t>Markdown for prose and layout</a:t>
            </a:r>
            <a:endParaRPr b="0" lang="en-US" sz="1500" spc="-1" strike="noStrike">
              <a:solidFill>
                <a:srgbClr val="000000"/>
              </a:solidFill>
              <a:latin typeface="Arial"/>
            </a:endParaRPr>
          </a:p>
          <a:p>
            <a:pPr defTabSz="457200">
              <a:lnSpc>
                <a:spcPct val="130000"/>
              </a:lnSpc>
            </a:pPr>
            <a:r>
              <a:rPr b="0" lang="en-US" sz="1250" spc="-1" strike="noStrike">
                <a:solidFill>
                  <a:srgbClr val="64748b"/>
                </a:solidFill>
                <a:latin typeface="Segoe UI"/>
              </a:rPr>
              <a:t>Not a proprietary tree of bounding boxes. Markdown is a format models are saturated with in training — headings stay headings, lists stay lists, tables stay tables, and no bespoke parser is needed on the agent side.</a:t>
            </a:r>
            <a:endParaRPr b="0" lang="en-US" sz="1250" spc="-1" strike="noStrike">
              <a:solidFill>
                <a:srgbClr val="000000"/>
              </a:solidFill>
              <a:latin typeface="Arial"/>
            </a:endParaRPr>
          </a:p>
        </p:txBody>
      </p:sp>
      <p:sp>
        <p:nvSpPr>
          <p:cNvPr id="205" name="Rectangle 10"/>
          <p:cNvSpPr/>
          <p:nvPr/>
        </p:nvSpPr>
        <p:spPr>
          <a:xfrm>
            <a:off x="6263640" y="2352960"/>
            <a:ext cx="5147280" cy="197424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 name="Rectangle 11"/>
          <p:cNvSpPr/>
          <p:nvPr/>
        </p:nvSpPr>
        <p:spPr>
          <a:xfrm>
            <a:off x="6263640" y="2352960"/>
            <a:ext cx="5147280" cy="4968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07" name="TextBox 12"/>
          <p:cNvSpPr/>
          <p:nvPr/>
        </p:nvSpPr>
        <p:spPr>
          <a:xfrm>
            <a:off x="6556320" y="2608920"/>
            <a:ext cx="4580280" cy="136764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1001"/>
              </a:spcAft>
            </a:pPr>
            <a:r>
              <a:rPr b="1" lang="en-US" sz="1500" spc="-1" strike="noStrike">
                <a:solidFill>
                  <a:srgbClr val="0f172a"/>
                </a:solidFill>
                <a:latin typeface="Segoe UI"/>
              </a:rPr>
              <a:t>Typed values for numbers</a:t>
            </a:r>
            <a:endParaRPr b="0" lang="en-US" sz="1500" spc="-1" strike="noStrike">
              <a:solidFill>
                <a:srgbClr val="000000"/>
              </a:solidFill>
              <a:latin typeface="Arial"/>
            </a:endParaRPr>
          </a:p>
          <a:p>
            <a:pPr defTabSz="457200">
              <a:lnSpc>
                <a:spcPct val="130000"/>
              </a:lnSpc>
            </a:pPr>
            <a:r>
              <a:rPr b="0" lang="en-US" sz="1250" spc="-1" strike="noStrike">
                <a:solidFill>
                  <a:srgbClr val="64748b"/>
                </a:solidFill>
                <a:latin typeface="Segoe UI"/>
              </a:rPr>
              <a:t>Spreadsheet cells come back as real JSON types — numbers as numbers, booleans as booleans, dates as ISO-8601 strings. The agent never has to reverse-engineer a display format to do arithmetic.</a:t>
            </a:r>
            <a:endParaRPr b="0" lang="en-US" sz="1250" spc="-1" strike="noStrike">
              <a:solidFill>
                <a:srgbClr val="000000"/>
              </a:solidFill>
              <a:latin typeface="Arial"/>
            </a:endParaRPr>
          </a:p>
        </p:txBody>
      </p:sp>
      <p:sp>
        <p:nvSpPr>
          <p:cNvPr id="208" name="Rectangle 13"/>
          <p:cNvSpPr/>
          <p:nvPr/>
        </p:nvSpPr>
        <p:spPr>
          <a:xfrm>
            <a:off x="777240" y="4602240"/>
            <a:ext cx="10636560" cy="1480680"/>
          </a:xfrm>
          <a:prstGeom prst="rect">
            <a:avLst/>
          </a:prstGeom>
          <a:solidFill>
            <a:srgbClr val="f1f5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9" name="TextBox 14"/>
          <p:cNvSpPr/>
          <p:nvPr/>
        </p:nvSpPr>
        <p:spPr>
          <a:xfrm>
            <a:off x="1097280" y="4821840"/>
            <a:ext cx="2925360" cy="78480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799"/>
              </a:spcAft>
            </a:pPr>
            <a:r>
              <a:rPr b="1" lang="en-US" sz="1350" spc="-1" strike="noStrike">
                <a:solidFill>
                  <a:srgbClr val="0f172a"/>
                </a:solidFill>
                <a:latin typeface="Segoe UI"/>
              </a:rPr>
              <a:t>The difference this makes</a:t>
            </a:r>
            <a:endParaRPr b="0" lang="en-US" sz="1350" spc="-1" strike="noStrike">
              <a:solidFill>
                <a:srgbClr val="000000"/>
              </a:solidFill>
              <a:latin typeface="Arial"/>
            </a:endParaRPr>
          </a:p>
          <a:p>
            <a:pPr defTabSz="457200">
              <a:lnSpc>
                <a:spcPct val="125000"/>
              </a:lnSpc>
            </a:pPr>
            <a:r>
              <a:rPr b="0" lang="en-US" sz="1200" spc="-1" strike="noStrike">
                <a:solidFill>
                  <a:srgbClr val="64748b"/>
                </a:solidFill>
                <a:latin typeface="Segoe UI"/>
              </a:rPr>
              <a:t>The same cell, reaching the agent two ways.</a:t>
            </a:r>
            <a:endParaRPr b="0" lang="en-US" sz="1200" spc="-1" strike="noStrike">
              <a:solidFill>
                <a:srgbClr val="000000"/>
              </a:solidFill>
              <a:latin typeface="Arial"/>
            </a:endParaRPr>
          </a:p>
        </p:txBody>
      </p:sp>
      <p:sp>
        <p:nvSpPr>
          <p:cNvPr id="210" name="Rectangle 15"/>
          <p:cNvSpPr/>
          <p:nvPr/>
        </p:nvSpPr>
        <p:spPr>
          <a:xfrm>
            <a:off x="4160520" y="4803480"/>
            <a:ext cx="3428280" cy="1096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1" name="Rectangle 16"/>
          <p:cNvSpPr/>
          <p:nvPr/>
        </p:nvSpPr>
        <p:spPr>
          <a:xfrm>
            <a:off x="4160520" y="4803480"/>
            <a:ext cx="45000" cy="109656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2" name="TextBox 17"/>
          <p:cNvSpPr/>
          <p:nvPr/>
        </p:nvSpPr>
        <p:spPr>
          <a:xfrm>
            <a:off x="4416480" y="4949640"/>
            <a:ext cx="2971080" cy="926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601"/>
              </a:spcAft>
            </a:pPr>
            <a:r>
              <a:rPr b="1" lang="en-US" sz="950" spc="-1" strike="noStrike">
                <a:solidFill>
                  <a:srgbClr val="c2410c"/>
                </a:solidFill>
                <a:latin typeface="Segoe UI"/>
              </a:rPr>
              <a:t>SCRAPED FROM RENDERED TEXT</a:t>
            </a:r>
            <a:endParaRPr b="0" lang="en-US" sz="950" spc="-1" strike="noStrike">
              <a:solidFill>
                <a:srgbClr val="000000"/>
              </a:solidFill>
              <a:latin typeface="Arial"/>
            </a:endParaRPr>
          </a:p>
          <a:p>
            <a:pPr defTabSz="457200">
              <a:lnSpc>
                <a:spcPct val="100000"/>
              </a:lnSpc>
              <a:spcAft>
                <a:spcPts val="499"/>
              </a:spcAft>
            </a:pPr>
            <a:r>
              <a:rPr b="1" lang="en-US" sz="1700" spc="-1" strike="noStrike">
                <a:solidFill>
                  <a:srgbClr val="0f172a"/>
                </a:solidFill>
                <a:latin typeface="Consolas"/>
              </a:rPr>
              <a:t>"1 234,50"</a:t>
            </a:r>
            <a:endParaRPr b="0" lang="en-US" sz="1700" spc="-1" strike="noStrike">
              <a:solidFill>
                <a:srgbClr val="000000"/>
              </a:solidFill>
              <a:latin typeface="Arial"/>
            </a:endParaRPr>
          </a:p>
          <a:p>
            <a:pPr defTabSz="457200">
              <a:lnSpc>
                <a:spcPct val="120000"/>
              </a:lnSpc>
            </a:pPr>
            <a:r>
              <a:rPr b="0" lang="en-US" sz="1050" spc="-1" strike="noStrike">
                <a:solidFill>
                  <a:srgbClr val="64748b"/>
                </a:solidFill>
                <a:latin typeface="Segoe UI"/>
              </a:rPr>
              <a:t>Locale, separator and currency all guessed. Sums silently wrong.</a:t>
            </a:r>
            <a:endParaRPr b="0" lang="en-US" sz="1050" spc="-1" strike="noStrike">
              <a:solidFill>
                <a:srgbClr val="000000"/>
              </a:solidFill>
              <a:latin typeface="Arial"/>
            </a:endParaRPr>
          </a:p>
        </p:txBody>
      </p:sp>
      <p:sp>
        <p:nvSpPr>
          <p:cNvPr id="213" name="Rectangle 18"/>
          <p:cNvSpPr/>
          <p:nvPr/>
        </p:nvSpPr>
        <p:spPr>
          <a:xfrm>
            <a:off x="8275320" y="4803480"/>
            <a:ext cx="3135600" cy="10965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 name="Rectangle 19"/>
          <p:cNvSpPr/>
          <p:nvPr/>
        </p:nvSpPr>
        <p:spPr>
          <a:xfrm>
            <a:off x="8275320" y="4803480"/>
            <a:ext cx="45000" cy="1096560"/>
          </a:xfrm>
          <a:prstGeom prst="rect">
            <a:avLst/>
          </a:prstGeom>
          <a:solidFill>
            <a:srgbClr val="157f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 name="TextBox 20"/>
          <p:cNvSpPr/>
          <p:nvPr/>
        </p:nvSpPr>
        <p:spPr>
          <a:xfrm>
            <a:off x="8531280" y="4949640"/>
            <a:ext cx="2678400" cy="9262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601"/>
              </a:spcAft>
            </a:pPr>
            <a:r>
              <a:rPr b="1" lang="en-US" sz="950" spc="-1" strike="noStrike">
                <a:solidFill>
                  <a:srgbClr val="157f3c"/>
                </a:solidFill>
                <a:latin typeface="Segoe UI"/>
              </a:rPr>
              <a:t>READ FROM THE STORED VALUE</a:t>
            </a:r>
            <a:endParaRPr b="0" lang="en-US" sz="950" spc="-1" strike="noStrike">
              <a:solidFill>
                <a:srgbClr val="000000"/>
              </a:solidFill>
              <a:latin typeface="Arial"/>
            </a:endParaRPr>
          </a:p>
          <a:p>
            <a:pPr defTabSz="457200">
              <a:lnSpc>
                <a:spcPct val="100000"/>
              </a:lnSpc>
              <a:spcAft>
                <a:spcPts val="499"/>
              </a:spcAft>
            </a:pPr>
            <a:r>
              <a:rPr b="1" lang="en-US" sz="1700" spc="-1" strike="noStrike">
                <a:solidFill>
                  <a:srgbClr val="0f172a"/>
                </a:solidFill>
                <a:latin typeface="Consolas"/>
              </a:rPr>
              <a:t>1234.50</a:t>
            </a:r>
            <a:endParaRPr b="0" lang="en-US" sz="1700" spc="-1" strike="noStrike">
              <a:solidFill>
                <a:srgbClr val="000000"/>
              </a:solidFill>
              <a:latin typeface="Arial"/>
            </a:endParaRPr>
          </a:p>
          <a:p>
            <a:pPr defTabSz="457200">
              <a:lnSpc>
                <a:spcPct val="120000"/>
              </a:lnSpc>
            </a:pPr>
            <a:r>
              <a:rPr b="0" lang="en-US" sz="1050" spc="-1" strike="noStrike">
                <a:solidFill>
                  <a:srgbClr val="64748b"/>
                </a:solidFill>
                <a:latin typeface="Segoe UI"/>
              </a:rPr>
              <a:t>The number the file actually holds. Arithmetic is safe.</a:t>
            </a:r>
            <a:endParaRPr b="0" lang="en-US" sz="1050" spc="-1" strike="noStrike">
              <a:solidFill>
                <a:srgbClr val="000000"/>
              </a:solidFill>
              <a:latin typeface="Arial"/>
            </a:endParaRPr>
          </a:p>
        </p:txBody>
      </p:sp>
      <p:sp>
        <p:nvSpPr>
          <p:cNvPr id="216" name="Isosceles Triangle 21"/>
          <p:cNvSpPr/>
          <p:nvPr/>
        </p:nvSpPr>
        <p:spPr>
          <a:xfrm rot="5400000">
            <a:off x="7791120" y="5260680"/>
            <a:ext cx="218880" cy="21888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 name="TextBox 22"/>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8</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9" name="Rectangle 2"/>
          <p:cNvSpPr/>
          <p:nvPr/>
        </p:nvSpPr>
        <p:spPr>
          <a:xfrm>
            <a:off x="777240" y="567000"/>
            <a:ext cx="49680" cy="27360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c2410c"/>
                </a:solidFill>
                <a:latin typeface="Segoe UI"/>
              </a:rPr>
              <a:t>FAILURE MODEL</a:t>
            </a:r>
            <a:endParaRPr b="0" lang="en-US" sz="1150" spc="-1" strike="noStrike">
              <a:solidFill>
                <a:srgbClr val="000000"/>
              </a:solidFill>
              <a:latin typeface="Arial"/>
            </a:endParaRPr>
          </a:p>
        </p:txBody>
      </p:sp>
      <p:sp>
        <p:nvSpPr>
          <p:cNvPr id="221"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One bad file never fails the batch</a:t>
            </a:r>
            <a:endParaRPr b="0" lang="en-US" sz="3000" spc="-1" strike="noStrike">
              <a:solidFill>
                <a:srgbClr val="000000"/>
              </a:solidFill>
              <a:latin typeface="Arial"/>
            </a:endParaRPr>
          </a:p>
        </p:txBody>
      </p:sp>
      <p:sp>
        <p:nvSpPr>
          <p:cNvPr id="222"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A well-formed request always returns 200. Success and failure are reported per file, inside the envelope.</a:t>
            </a:r>
            <a:endParaRPr b="0" lang="en-US" sz="1450" spc="-1" strike="noStrike">
              <a:solidFill>
                <a:srgbClr val="000000"/>
              </a:solidFill>
              <a:latin typeface="Arial"/>
            </a:endParaRPr>
          </a:p>
        </p:txBody>
      </p:sp>
      <p:sp>
        <p:nvSpPr>
          <p:cNvPr id="223"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24" name="Rectangle 7"/>
          <p:cNvSpPr/>
          <p:nvPr/>
        </p:nvSpPr>
        <p:spPr>
          <a:xfrm>
            <a:off x="777240" y="2418120"/>
            <a:ext cx="68040" cy="6804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225" name="TextBox 8"/>
          <p:cNvSpPr/>
          <p:nvPr/>
        </p:nvSpPr>
        <p:spPr>
          <a:xfrm>
            <a:off x="1069920" y="2352960"/>
            <a:ext cx="4781520" cy="54648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00" spc="-1" strike="noStrike">
                <a:solidFill>
                  <a:srgbClr val="0f172a"/>
                </a:solidFill>
                <a:latin typeface="Segoe UI"/>
              </a:rPr>
              <a:t>Partial success is the norm. </a:t>
            </a:r>
            <a:r>
              <a:rPr b="0" lang="en-US" sz="1400" spc="-1" strike="noStrike">
                <a:solidFill>
                  <a:srgbClr val="64748b"/>
                </a:solidFill>
                <a:latin typeface="Segoe UI"/>
              </a:rPr>
              <a:t>One corrupt file in twelve yields eleven results and one error entry.</a:t>
            </a:r>
            <a:endParaRPr b="0" lang="en-US" sz="1400" spc="-1" strike="noStrike">
              <a:solidFill>
                <a:srgbClr val="000000"/>
              </a:solidFill>
              <a:latin typeface="Arial"/>
            </a:endParaRPr>
          </a:p>
        </p:txBody>
      </p:sp>
      <p:sp>
        <p:nvSpPr>
          <p:cNvPr id="226" name="Rectangle 9"/>
          <p:cNvSpPr/>
          <p:nvPr/>
        </p:nvSpPr>
        <p:spPr>
          <a:xfrm>
            <a:off x="777240" y="3227400"/>
            <a:ext cx="68040" cy="6804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227" name="TextBox 10"/>
          <p:cNvSpPr/>
          <p:nvPr/>
        </p:nvSpPr>
        <p:spPr>
          <a:xfrm>
            <a:off x="1069920" y="3162240"/>
            <a:ext cx="4781520" cy="54648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00" spc="-1" strike="noStrike">
                <a:solidFill>
                  <a:srgbClr val="0f172a"/>
                </a:solidFill>
                <a:latin typeface="Segoe UI"/>
              </a:rPr>
              <a:t>Errors are machine-readable. </a:t>
            </a:r>
            <a:r>
              <a:rPr b="0" lang="en-US" sz="1400" spc="-1" strike="noStrike">
                <a:solidFill>
                  <a:srgbClr val="64748b"/>
                </a:solidFill>
                <a:latin typeface="Segoe UI"/>
              </a:rPr>
              <a:t>The agent branches on a code, not on a message string.</a:t>
            </a:r>
            <a:endParaRPr b="0" lang="en-US" sz="1400" spc="-1" strike="noStrike">
              <a:solidFill>
                <a:srgbClr val="000000"/>
              </a:solidFill>
              <a:latin typeface="Arial"/>
            </a:endParaRPr>
          </a:p>
        </p:txBody>
      </p:sp>
      <p:sp>
        <p:nvSpPr>
          <p:cNvPr id="228" name="Rectangle 11"/>
          <p:cNvSpPr/>
          <p:nvPr/>
        </p:nvSpPr>
        <p:spPr>
          <a:xfrm>
            <a:off x="777240" y="4036680"/>
            <a:ext cx="68040" cy="6804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229" name="TextBox 12"/>
          <p:cNvSpPr/>
          <p:nvPr/>
        </p:nvSpPr>
        <p:spPr>
          <a:xfrm>
            <a:off x="1069920" y="3971520"/>
            <a:ext cx="4781520" cy="54648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00" spc="-1" strike="noStrike">
                <a:solidFill>
                  <a:srgbClr val="0f172a"/>
                </a:solidFill>
                <a:latin typeface="Segoe UI"/>
              </a:rPr>
              <a:t>Warnings are non-fatal. </a:t>
            </a:r>
            <a:r>
              <a:rPr b="0" lang="en-US" sz="1400" spc="-1" strike="noStrike">
                <a:solidFill>
                  <a:srgbClr val="64748b"/>
                </a:solidFill>
                <a:latin typeface="Segoe UI"/>
              </a:rPr>
              <a:t>Whatever degraded is reported next to the result still produced.</a:t>
            </a:r>
            <a:endParaRPr b="0" lang="en-US" sz="1400" spc="-1" strike="noStrike">
              <a:solidFill>
                <a:srgbClr val="000000"/>
              </a:solidFill>
              <a:latin typeface="Arial"/>
            </a:endParaRPr>
          </a:p>
        </p:txBody>
      </p:sp>
      <p:sp>
        <p:nvSpPr>
          <p:cNvPr id="230" name="Rectangle 13"/>
          <p:cNvSpPr/>
          <p:nvPr/>
        </p:nvSpPr>
        <p:spPr>
          <a:xfrm>
            <a:off x="777240" y="4845960"/>
            <a:ext cx="68040" cy="6804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231" name="TextBox 14"/>
          <p:cNvSpPr/>
          <p:nvPr/>
        </p:nvSpPr>
        <p:spPr>
          <a:xfrm>
            <a:off x="1069920" y="4780800"/>
            <a:ext cx="4781520" cy="54648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400" spc="-1" strike="noStrike">
                <a:solidFill>
                  <a:srgbClr val="0f172a"/>
                </a:solidFill>
                <a:latin typeface="Segoe UI"/>
              </a:rPr>
              <a:t>Request-level 400 is reserved. </a:t>
            </a:r>
            <a:r>
              <a:rPr b="0" lang="en-US" sz="1400" spc="-1" strike="noStrike">
                <a:solidFill>
                  <a:srgbClr val="64748b"/>
                </a:solidFill>
                <a:latin typeface="Segoe UI"/>
              </a:rPr>
              <a:t>Only for a malformed request — never for bad file content.</a:t>
            </a:r>
            <a:endParaRPr b="0" lang="en-US" sz="1400" spc="-1" strike="noStrike">
              <a:solidFill>
                <a:srgbClr val="000000"/>
              </a:solidFill>
              <a:latin typeface="Arial"/>
            </a:endParaRPr>
          </a:p>
        </p:txBody>
      </p:sp>
      <p:graphicFrame>
        <p:nvGraphicFramePr>
          <p:cNvPr id="232" name="Table 15"/>
          <p:cNvGraphicFramePr/>
          <p:nvPr/>
        </p:nvGraphicFramePr>
        <p:xfrm>
          <a:off x="6263640" y="2352960"/>
          <a:ext cx="5147640" cy="2764800"/>
        </p:xfrm>
        <a:graphic>
          <a:graphicData uri="http://schemas.openxmlformats.org/drawingml/2006/table">
            <a:tbl>
              <a:tblPr/>
              <a:tblGrid>
                <a:gridCol w="2148840"/>
                <a:gridCol w="2999160"/>
              </a:tblGrid>
              <a:tr h="365760">
                <a:tc>
                  <a:txBody>
                    <a:bodyPr lIns="146160" anchor="ctr">
                      <a:noAutofit/>
                    </a:bodyPr>
                    <a:p>
                      <a:pPr defTabSz="457200">
                        <a:lnSpc>
                          <a:spcPct val="112000"/>
                        </a:lnSpc>
                      </a:pPr>
                      <a:r>
                        <a:rPr b="1" lang="en-US" sz="1150" spc="-1" strike="noStrike">
                          <a:solidFill>
                            <a:srgbClr val="ffffff"/>
                          </a:solidFill>
                          <a:latin typeface="Segoe UI"/>
                        </a:rPr>
                        <a:t>Code</a:t>
                      </a:r>
                      <a:endParaRPr b="0" lang="en-US" sz="115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c2410c"/>
                    </a:solidFill>
                  </a:tcPr>
                </a:tc>
                <a:tc>
                  <a:txBody>
                    <a:bodyPr lIns="146160" anchor="ctr">
                      <a:noAutofit/>
                    </a:bodyPr>
                    <a:p>
                      <a:pPr defTabSz="457200">
                        <a:lnSpc>
                          <a:spcPct val="112000"/>
                        </a:lnSpc>
                      </a:pPr>
                      <a:r>
                        <a:rPr b="1" lang="en-US" sz="1150" spc="-1" strike="noStrike">
                          <a:solidFill>
                            <a:srgbClr val="ffffff"/>
                          </a:solidFill>
                          <a:latin typeface="Segoe UI"/>
                        </a:rPr>
                        <a:t>When it is returned</a:t>
                      </a:r>
                      <a:endParaRPr b="0" lang="en-US" sz="115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c2410c"/>
                    </a:solidFill>
                  </a:tcPr>
                </a:tc>
              </a:tr>
              <a:tr h="342720">
                <a:tc>
                  <a:txBody>
                    <a:bodyPr lIns="146160" anchor="ctr">
                      <a:noAutofit/>
                    </a:bodyPr>
                    <a:p>
                      <a:pPr defTabSz="457200">
                        <a:lnSpc>
                          <a:spcPct val="112000"/>
                        </a:lnSpc>
                      </a:pPr>
                      <a:r>
                        <a:rPr b="0" lang="en-US" sz="1150" spc="-1" strike="noStrike">
                          <a:solidFill>
                            <a:srgbClr val="0f172a"/>
                          </a:solidFill>
                          <a:latin typeface="Consolas"/>
                        </a:rPr>
                        <a:t>unsupported_type</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150" spc="-1" strike="noStrike">
                          <a:solidFill>
                            <a:srgbClr val="0f172a"/>
                          </a:solidFill>
                          <a:latin typeface="Segoe UI"/>
                        </a:rPr>
                        <a:t>Bytes match no supported format</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342720">
                <a:tc>
                  <a:txBody>
                    <a:bodyPr lIns="146160" anchor="ctr">
                      <a:noAutofit/>
                    </a:bodyPr>
                    <a:p>
                      <a:pPr defTabSz="457200">
                        <a:lnSpc>
                          <a:spcPct val="112000"/>
                        </a:lnSpc>
                      </a:pPr>
                      <a:r>
                        <a:rPr b="0" lang="en-US" sz="1150" spc="-1" strike="noStrike">
                          <a:solidFill>
                            <a:srgbClr val="0f172a"/>
                          </a:solidFill>
                          <a:latin typeface="Consolas"/>
                        </a:rPr>
                        <a:t>too_large</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150" spc="-1" strike="noStrike">
                          <a:solidFill>
                            <a:srgbClr val="0f172a"/>
                          </a:solidFill>
                          <a:latin typeface="Segoe UI"/>
                        </a:rPr>
                        <a:t>File exceeds the per-file size cap</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342720">
                <a:tc>
                  <a:txBody>
                    <a:bodyPr lIns="146160" anchor="ctr">
                      <a:noAutofit/>
                    </a:bodyPr>
                    <a:p>
                      <a:pPr defTabSz="457200">
                        <a:lnSpc>
                          <a:spcPct val="112000"/>
                        </a:lnSpc>
                      </a:pPr>
                      <a:r>
                        <a:rPr b="0" lang="en-US" sz="1150" spc="-1" strike="noStrike">
                          <a:solidFill>
                            <a:srgbClr val="0f172a"/>
                          </a:solidFill>
                          <a:latin typeface="Consolas"/>
                        </a:rPr>
                        <a:t>empty_file</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150" spc="-1" strike="noStrike">
                          <a:solidFill>
                            <a:srgbClr val="0f172a"/>
                          </a:solidFill>
                          <a:latin typeface="Segoe UI"/>
                        </a:rPr>
                        <a:t>Zero-byte part</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342720">
                <a:tc>
                  <a:txBody>
                    <a:bodyPr lIns="146160" anchor="ctr">
                      <a:noAutofit/>
                    </a:bodyPr>
                    <a:p>
                      <a:pPr defTabSz="457200">
                        <a:lnSpc>
                          <a:spcPct val="112000"/>
                        </a:lnSpc>
                      </a:pPr>
                      <a:r>
                        <a:rPr b="1" lang="en-US" sz="1150" spc="-1" strike="noStrike">
                          <a:solidFill>
                            <a:srgbClr val="0f172a"/>
                          </a:solidFill>
                          <a:latin typeface="Segoe UI"/>
                        </a:rPr>
                        <a:t>corrupt</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150" spc="-1" strike="noStrike">
                          <a:solidFill>
                            <a:srgbClr val="0f172a"/>
                          </a:solidFill>
                          <a:latin typeface="Segoe UI"/>
                        </a:rPr>
                        <a:t>Recognised format, unreadable content</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342720">
                <a:tc>
                  <a:txBody>
                    <a:bodyPr lIns="146160" anchor="ctr">
                      <a:noAutofit/>
                    </a:bodyPr>
                    <a:p>
                      <a:pPr defTabSz="457200">
                        <a:lnSpc>
                          <a:spcPct val="112000"/>
                        </a:lnSpc>
                      </a:pPr>
                      <a:r>
                        <a:rPr b="1" lang="en-US" sz="1150" spc="-1" strike="noStrike">
                          <a:solidFill>
                            <a:srgbClr val="0f172a"/>
                          </a:solidFill>
                          <a:latin typeface="Segoe UI"/>
                        </a:rPr>
                        <a:t>timeout</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150" spc="-1" strike="noStrike">
                          <a:solidFill>
                            <a:srgbClr val="0f172a"/>
                          </a:solidFill>
                          <a:latin typeface="Segoe UI"/>
                        </a:rPr>
                        <a:t>Engine exceeded the per-file budget</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342720">
                <a:tc>
                  <a:txBody>
                    <a:bodyPr lIns="146160" anchor="ctr">
                      <a:noAutofit/>
                    </a:bodyPr>
                    <a:p>
                      <a:pPr defTabSz="457200">
                        <a:lnSpc>
                          <a:spcPct val="112000"/>
                        </a:lnSpc>
                      </a:pPr>
                      <a:r>
                        <a:rPr b="0" lang="en-US" sz="1150" spc="-1" strike="noStrike">
                          <a:solidFill>
                            <a:srgbClr val="0f172a"/>
                          </a:solidFill>
                          <a:latin typeface="Consolas"/>
                        </a:rPr>
                        <a:t>engine_error</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150" spc="-1" strike="noStrike">
                          <a:solidFill>
                            <a:srgbClr val="0f172a"/>
                          </a:solidFill>
                          <a:latin typeface="Segoe UI"/>
                        </a:rPr>
                        <a:t>Unexpected engine failure</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342720">
                <a:tc>
                  <a:txBody>
                    <a:bodyPr lIns="146160" anchor="ctr">
                      <a:noAutofit/>
                    </a:bodyPr>
                    <a:p>
                      <a:pPr defTabSz="457200">
                        <a:lnSpc>
                          <a:spcPct val="112000"/>
                        </a:lnSpc>
                      </a:pPr>
                      <a:r>
                        <a:rPr b="0" lang="en-US" sz="1150" spc="-1" strike="noStrike">
                          <a:solidFill>
                            <a:srgbClr val="0f172a"/>
                          </a:solidFill>
                          <a:latin typeface="Consolas"/>
                        </a:rPr>
                        <a:t>engine_unconfigured</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150" spc="-1" strike="noStrike">
                          <a:solidFill>
                            <a:srgbClr val="0f172a"/>
                          </a:solidFill>
                          <a:latin typeface="Segoe UI"/>
                        </a:rPr>
                        <a:t>That engine has no credentials</a:t>
                      </a:r>
                      <a:endParaRPr b="0" lang="en-US" sz="11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bl>
          </a:graphicData>
        </a:graphic>
      </p:graphicFrame>
      <p:sp>
        <p:nvSpPr>
          <p:cNvPr id="233" name="TextBox 16"/>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9</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 name="Rectangle 2"/>
          <p:cNvSpPr/>
          <p:nvPr/>
        </p:nvSpPr>
        <p:spPr>
          <a:xfrm>
            <a:off x="777240" y="567000"/>
            <a:ext cx="49680" cy="273600"/>
          </a:xfrm>
          <a:prstGeom prst="rect">
            <a:avLst/>
          </a:prstGeom>
          <a:solidFill>
            <a:srgbClr val="157f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57f3c"/>
                </a:solidFill>
                <a:latin typeface="Segoe UI"/>
              </a:rPr>
              <a:t>OPERATIONAL SAFETY</a:t>
            </a:r>
            <a:endParaRPr b="0" lang="en-US" sz="1150" spc="-1" strike="noStrike">
              <a:solidFill>
                <a:srgbClr val="000000"/>
              </a:solidFill>
              <a:latin typeface="Arial"/>
            </a:endParaRPr>
          </a:p>
        </p:txBody>
      </p:sp>
      <p:sp>
        <p:nvSpPr>
          <p:cNvPr id="237"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Safe to put inside an agent loop</a:t>
            </a:r>
            <a:endParaRPr b="0" lang="en-US" sz="3000" spc="-1" strike="noStrike">
              <a:solidFill>
                <a:srgbClr val="000000"/>
              </a:solidFill>
              <a:latin typeface="Arial"/>
            </a:endParaRPr>
          </a:p>
        </p:txBody>
      </p:sp>
      <p:sp>
        <p:nvSpPr>
          <p:cNvPr id="238"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Properties that matter when the files are user-supplied and the caller is autonomous.</a:t>
            </a:r>
            <a:endParaRPr b="0" lang="en-US" sz="1450" spc="-1" strike="noStrike">
              <a:solidFill>
                <a:srgbClr val="000000"/>
              </a:solidFill>
              <a:latin typeface="Arial"/>
            </a:endParaRPr>
          </a:p>
        </p:txBody>
      </p:sp>
      <p:sp>
        <p:nvSpPr>
          <p:cNvPr id="239"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40" name="Rectangle 7"/>
          <p:cNvSpPr/>
          <p:nvPr/>
        </p:nvSpPr>
        <p:spPr>
          <a:xfrm>
            <a:off x="777240" y="2352960"/>
            <a:ext cx="5189760" cy="14166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 name="Rectangle 8"/>
          <p:cNvSpPr/>
          <p:nvPr/>
        </p:nvSpPr>
        <p:spPr>
          <a:xfrm>
            <a:off x="777240" y="2352960"/>
            <a:ext cx="45000" cy="1416600"/>
          </a:xfrm>
          <a:prstGeom prst="rect">
            <a:avLst/>
          </a:prstGeom>
          <a:solidFill>
            <a:srgbClr val="157f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2" name="TextBox 9"/>
          <p:cNvSpPr/>
          <p:nvPr/>
        </p:nvSpPr>
        <p:spPr>
          <a:xfrm>
            <a:off x="1051560" y="2572200"/>
            <a:ext cx="4686840" cy="7783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Stateless</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Bytes in, results out. No document is persisted, to disk or to any store, and nothing outlives its request.</a:t>
            </a:r>
            <a:endParaRPr b="0" lang="en-US" sz="1200" spc="-1" strike="noStrike">
              <a:solidFill>
                <a:srgbClr val="000000"/>
              </a:solidFill>
              <a:latin typeface="Arial"/>
            </a:endParaRPr>
          </a:p>
        </p:txBody>
      </p:sp>
      <p:sp>
        <p:nvSpPr>
          <p:cNvPr id="243" name="Rectangle 10"/>
          <p:cNvSpPr/>
          <p:nvPr/>
        </p:nvSpPr>
        <p:spPr>
          <a:xfrm>
            <a:off x="6224040" y="2352960"/>
            <a:ext cx="5189760" cy="14166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 name="Rectangle 11"/>
          <p:cNvSpPr/>
          <p:nvPr/>
        </p:nvSpPr>
        <p:spPr>
          <a:xfrm>
            <a:off x="6224040" y="2352960"/>
            <a:ext cx="45000" cy="1416600"/>
          </a:xfrm>
          <a:prstGeom prst="rect">
            <a:avLst/>
          </a:prstGeom>
          <a:solidFill>
            <a:srgbClr val="157f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5" name="TextBox 12"/>
          <p:cNvSpPr/>
          <p:nvPr/>
        </p:nvSpPr>
        <p:spPr>
          <a:xfrm>
            <a:off x="6498360" y="2572200"/>
            <a:ext cx="4686840" cy="10087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No content in logs</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Filenames, sizes, kinds, durations and outcomes are logged. Document content never is — enforced by a test that processes real files and asserts their text is absent.</a:t>
            </a:r>
            <a:endParaRPr b="0" lang="en-US" sz="1200" spc="-1" strike="noStrike">
              <a:solidFill>
                <a:srgbClr val="000000"/>
              </a:solidFill>
              <a:latin typeface="Arial"/>
            </a:endParaRPr>
          </a:p>
        </p:txBody>
      </p:sp>
      <p:sp>
        <p:nvSpPr>
          <p:cNvPr id="246" name="Rectangle 13"/>
          <p:cNvSpPr/>
          <p:nvPr/>
        </p:nvSpPr>
        <p:spPr>
          <a:xfrm>
            <a:off x="777240" y="4007880"/>
            <a:ext cx="5189760" cy="14166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7" name="Rectangle 14"/>
          <p:cNvSpPr/>
          <p:nvPr/>
        </p:nvSpPr>
        <p:spPr>
          <a:xfrm>
            <a:off x="777240" y="4007880"/>
            <a:ext cx="45000" cy="1416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 name="TextBox 15"/>
          <p:cNvSpPr/>
          <p:nvPr/>
        </p:nvSpPr>
        <p:spPr>
          <a:xfrm>
            <a:off x="1051560" y="4227480"/>
            <a:ext cx="4686840" cy="10087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Hard limits everywhere</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Per-file size cap, per-request file count, per-file timeout, bounded concurrency, and streaming caps enforced during read rather than after buffering.</a:t>
            </a:r>
            <a:endParaRPr b="0" lang="en-US" sz="1200" spc="-1" strike="noStrike">
              <a:solidFill>
                <a:srgbClr val="000000"/>
              </a:solidFill>
              <a:latin typeface="Arial"/>
            </a:endParaRPr>
          </a:p>
        </p:txBody>
      </p:sp>
      <p:sp>
        <p:nvSpPr>
          <p:cNvPr id="249" name="Rectangle 16"/>
          <p:cNvSpPr/>
          <p:nvPr/>
        </p:nvSpPr>
        <p:spPr>
          <a:xfrm>
            <a:off x="6224040" y="4007880"/>
            <a:ext cx="5189760" cy="14166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 name="Rectangle 17"/>
          <p:cNvSpPr/>
          <p:nvPr/>
        </p:nvSpPr>
        <p:spPr>
          <a:xfrm>
            <a:off x="6224040" y="4007880"/>
            <a:ext cx="45000" cy="1416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 name="TextBox 18"/>
          <p:cNvSpPr/>
          <p:nvPr/>
        </p:nvSpPr>
        <p:spPr>
          <a:xfrm>
            <a:off x="6498360" y="4227480"/>
            <a:ext cx="4686840" cy="77832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450" spc="-1" strike="noStrike">
                <a:solidFill>
                  <a:srgbClr val="0f172a"/>
                </a:solidFill>
                <a:latin typeface="Segoe UI"/>
              </a:rPr>
              <a:t>Not publicly reachable</a:t>
            </a:r>
            <a:endParaRPr b="0" lang="en-US" sz="1450" spc="-1" strike="noStrike">
              <a:solidFill>
                <a:srgbClr val="000000"/>
              </a:solidFill>
              <a:latin typeface="Arial"/>
            </a:endParaRPr>
          </a:p>
          <a:p>
            <a:pPr defTabSz="457200">
              <a:lnSpc>
                <a:spcPct val="126000"/>
              </a:lnSpc>
            </a:pPr>
            <a:r>
              <a:rPr b="0" lang="en-US" sz="1200" spc="-1" strike="noStrike">
                <a:solidFill>
                  <a:srgbClr val="64748b"/>
                </a:solidFill>
                <a:latin typeface="Segoe UI"/>
              </a:rPr>
              <a:t>A cluster-internal service with no ingress. It is called by other workloads, never by a browser.</a:t>
            </a:r>
            <a:endParaRPr b="0" lang="en-US" sz="1200" spc="-1" strike="noStrike">
              <a:solidFill>
                <a:srgbClr val="000000"/>
              </a:solidFill>
              <a:latin typeface="Arial"/>
            </a:endParaRPr>
          </a:p>
        </p:txBody>
      </p:sp>
      <p:sp>
        <p:nvSpPr>
          <p:cNvPr id="252" name="TextBox 19"/>
          <p:cNvSpPr/>
          <p:nvPr/>
        </p:nvSpPr>
        <p:spPr>
          <a:xfrm>
            <a:off x="777240" y="5736240"/>
            <a:ext cx="10636560" cy="55404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1" lang="en-US" sz="1400" spc="-1" strike="noStrike">
                <a:solidFill>
                  <a:srgbClr val="0f172a"/>
                </a:solidFill>
                <a:latin typeface="Segoe UI"/>
              </a:rPr>
              <a:t>Net effect: </a:t>
            </a:r>
            <a:r>
              <a:rPr b="0" lang="en-US" sz="1400" spc="-1" strike="noStrike">
                <a:solidFill>
                  <a:srgbClr val="64748b"/>
                </a:solidFill>
                <a:latin typeface="Segoe UI"/>
              </a:rPr>
              <a:t>an agent can hand this service arbitrary user uploads in a loop without accumulating state, leaking content into logs, or letting one pathological file exhaust the pod.</a:t>
            </a:r>
            <a:endParaRPr b="0" lang="en-US" sz="1400" spc="-1" strike="noStrike">
              <a:solidFill>
                <a:srgbClr val="000000"/>
              </a:solidFill>
              <a:latin typeface="Arial"/>
            </a:endParaRPr>
          </a:p>
        </p:txBody>
      </p:sp>
      <p:sp>
        <p:nvSpPr>
          <p:cNvPr id="253" name="TextBox 20"/>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10</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Rectangle 1"/>
          <p:cNvSpPr/>
          <p:nvPr/>
        </p:nvSpPr>
        <p:spPr>
          <a:xfrm>
            <a:off x="0" y="0"/>
            <a:ext cx="12191040" cy="6857280"/>
          </a:xfrm>
          <a:prstGeom prst="rect">
            <a:avLst/>
          </a:prstGeom>
          <a:solidFill>
            <a:srgbClr val="0b12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5" name="Rectangle 2"/>
          <p:cNvSpPr/>
          <p:nvPr/>
        </p:nvSpPr>
        <p:spPr>
          <a:xfrm>
            <a:off x="0" y="0"/>
            <a:ext cx="273600" cy="685728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 name="TextBox 3"/>
          <p:cNvSpPr/>
          <p:nvPr/>
        </p:nvSpPr>
        <p:spPr>
          <a:xfrm>
            <a:off x="1371600" y="2240280"/>
            <a:ext cx="2925360" cy="115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7600" spc="-1" strike="noStrike">
                <a:solidFill>
                  <a:srgbClr val="172440"/>
                </a:solidFill>
                <a:latin typeface="Segoe UI"/>
              </a:rPr>
              <a:t>02</a:t>
            </a:r>
            <a:endParaRPr b="0" lang="en-US" sz="7600" spc="-1" strike="noStrike">
              <a:solidFill>
                <a:srgbClr val="000000"/>
              </a:solidFill>
              <a:latin typeface="Arial"/>
            </a:endParaRPr>
          </a:p>
        </p:txBody>
      </p:sp>
      <p:sp>
        <p:nvSpPr>
          <p:cNvPr id="257" name="TextBox 4"/>
          <p:cNvSpPr/>
          <p:nvPr/>
        </p:nvSpPr>
        <p:spPr>
          <a:xfrm>
            <a:off x="1371600" y="3246120"/>
            <a:ext cx="8686080" cy="639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4000" spc="-1" strike="noStrike">
                <a:solidFill>
                  <a:srgbClr val="ffffff"/>
                </a:solidFill>
                <a:latin typeface="Segoe UI"/>
              </a:rPr>
              <a:t>How it is implemented</a:t>
            </a:r>
            <a:endParaRPr b="0" lang="en-US" sz="4000" spc="-1" strike="noStrike">
              <a:solidFill>
                <a:srgbClr val="000000"/>
              </a:solidFill>
              <a:latin typeface="Arial"/>
            </a:endParaRPr>
          </a:p>
        </p:txBody>
      </p:sp>
      <p:sp>
        <p:nvSpPr>
          <p:cNvPr id="258" name="Rectangle 5"/>
          <p:cNvSpPr/>
          <p:nvPr/>
        </p:nvSpPr>
        <p:spPr>
          <a:xfrm>
            <a:off x="1371600" y="4224600"/>
            <a:ext cx="1279440" cy="4032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59" name="TextBox 6"/>
          <p:cNvSpPr/>
          <p:nvPr/>
        </p:nvSpPr>
        <p:spPr>
          <a:xfrm>
            <a:off x="1371600" y="4498920"/>
            <a:ext cx="8228880" cy="29700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500" spc="-1" strike="noStrike">
                <a:solidFill>
                  <a:srgbClr val="94a3b8"/>
                </a:solidFill>
                <a:latin typeface="Segoe UI"/>
              </a:rPr>
              <a:t>Detection, routing, and a different strategy for each family of file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2"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ARCHITECTURE</a:t>
            </a:r>
            <a:endParaRPr b="0" lang="en-US" sz="1150" spc="-1" strike="noStrike">
              <a:solidFill>
                <a:srgbClr val="000000"/>
              </a:solidFill>
              <a:latin typeface="Arial"/>
            </a:endParaRPr>
          </a:p>
        </p:txBody>
      </p:sp>
      <p:sp>
        <p:nvSpPr>
          <p:cNvPr id="263"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A short pipeline and three engines</a:t>
            </a:r>
            <a:endParaRPr b="0" lang="en-US" sz="3000" spc="-1" strike="noStrike">
              <a:solidFill>
                <a:srgbClr val="000000"/>
              </a:solidFill>
              <a:latin typeface="Arial"/>
            </a:endParaRPr>
          </a:p>
        </p:txBody>
      </p:sp>
      <p:sp>
        <p:nvSpPr>
          <p:cNvPr id="264"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Built as a .NET 10 minimal API. Every stage is small, independently testable, and unaware of the ones around it.</a:t>
            </a:r>
            <a:endParaRPr b="0" lang="en-US" sz="1450" spc="-1" strike="noStrike">
              <a:solidFill>
                <a:srgbClr val="000000"/>
              </a:solidFill>
              <a:latin typeface="Arial"/>
            </a:endParaRPr>
          </a:p>
        </p:txBody>
      </p:sp>
      <p:sp>
        <p:nvSpPr>
          <p:cNvPr id="265"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66" name="Rectangle 7"/>
          <p:cNvSpPr/>
          <p:nvPr/>
        </p:nvSpPr>
        <p:spPr>
          <a:xfrm>
            <a:off x="777240" y="2352960"/>
            <a:ext cx="1936440" cy="11880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 name="Rectangle 8"/>
          <p:cNvSpPr/>
          <p:nvPr/>
        </p:nvSpPr>
        <p:spPr>
          <a:xfrm>
            <a:off x="777240" y="2352960"/>
            <a:ext cx="1936440" cy="450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68" name="TextBox 9"/>
          <p:cNvSpPr/>
          <p:nvPr/>
        </p:nvSpPr>
        <p:spPr>
          <a:xfrm>
            <a:off x="941760" y="2554200"/>
            <a:ext cx="1607400" cy="48096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99"/>
              </a:spcAft>
            </a:pPr>
            <a:r>
              <a:rPr b="1" lang="en-US" sz="1350" spc="-1" strike="noStrike">
                <a:solidFill>
                  <a:srgbClr val="0f172a"/>
                </a:solidFill>
                <a:latin typeface="Segoe UI"/>
              </a:rPr>
              <a:t>Intake</a:t>
            </a:r>
            <a:endParaRPr b="0" lang="en-US" sz="1350" spc="-1" strike="noStrike">
              <a:solidFill>
                <a:srgbClr val="000000"/>
              </a:solidFill>
              <a:latin typeface="Arial"/>
            </a:endParaRPr>
          </a:p>
          <a:p>
            <a:pPr defTabSz="457200">
              <a:lnSpc>
                <a:spcPct val="120000"/>
              </a:lnSpc>
            </a:pPr>
            <a:r>
              <a:rPr b="0" lang="en-US" sz="1050" spc="-1" strike="noStrike">
                <a:solidFill>
                  <a:srgbClr val="64748b"/>
                </a:solidFill>
                <a:latin typeface="Segoe UI"/>
              </a:rPr>
              <a:t>Streamed multipart read</a:t>
            </a:r>
            <a:endParaRPr b="0" lang="en-US" sz="1050" spc="-1" strike="noStrike">
              <a:solidFill>
                <a:srgbClr val="000000"/>
              </a:solidFill>
              <a:latin typeface="Arial"/>
            </a:endParaRPr>
          </a:p>
        </p:txBody>
      </p:sp>
      <p:sp>
        <p:nvSpPr>
          <p:cNvPr id="269" name="Isosceles Triangle 10"/>
          <p:cNvSpPr/>
          <p:nvPr/>
        </p:nvSpPr>
        <p:spPr>
          <a:xfrm rot="5400000">
            <a:off x="2719800" y="2846520"/>
            <a:ext cx="200520" cy="20052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 name="Rectangle 11"/>
          <p:cNvSpPr/>
          <p:nvPr/>
        </p:nvSpPr>
        <p:spPr>
          <a:xfrm>
            <a:off x="2952360" y="2352960"/>
            <a:ext cx="1936440" cy="11880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1" name="Rectangle 12"/>
          <p:cNvSpPr/>
          <p:nvPr/>
        </p:nvSpPr>
        <p:spPr>
          <a:xfrm>
            <a:off x="2952360" y="2352960"/>
            <a:ext cx="1936440" cy="450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72" name="TextBox 13"/>
          <p:cNvSpPr/>
          <p:nvPr/>
        </p:nvSpPr>
        <p:spPr>
          <a:xfrm>
            <a:off x="3116880" y="2554200"/>
            <a:ext cx="1607400" cy="6724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99"/>
              </a:spcAft>
            </a:pPr>
            <a:r>
              <a:rPr b="1" lang="en-US" sz="1350" spc="-1" strike="noStrike">
                <a:solidFill>
                  <a:srgbClr val="0f172a"/>
                </a:solidFill>
                <a:latin typeface="Segoe UI"/>
              </a:rPr>
              <a:t>Validate</a:t>
            </a:r>
            <a:endParaRPr b="0" lang="en-US" sz="1350" spc="-1" strike="noStrike">
              <a:solidFill>
                <a:srgbClr val="000000"/>
              </a:solidFill>
              <a:latin typeface="Arial"/>
            </a:endParaRPr>
          </a:p>
          <a:p>
            <a:pPr defTabSz="457200">
              <a:lnSpc>
                <a:spcPct val="120000"/>
              </a:lnSpc>
            </a:pPr>
            <a:r>
              <a:rPr b="0" lang="en-US" sz="1050" spc="-1" strike="noStrike">
                <a:solidFill>
                  <a:srgbClr val="64748b"/>
                </a:solidFill>
                <a:latin typeface="Segoe UI"/>
              </a:rPr>
              <a:t>Size and count caps enforced during read</a:t>
            </a:r>
            <a:endParaRPr b="0" lang="en-US" sz="1050" spc="-1" strike="noStrike">
              <a:solidFill>
                <a:srgbClr val="000000"/>
              </a:solidFill>
              <a:latin typeface="Arial"/>
            </a:endParaRPr>
          </a:p>
        </p:txBody>
      </p:sp>
      <p:sp>
        <p:nvSpPr>
          <p:cNvPr id="273" name="Isosceles Triangle 14"/>
          <p:cNvSpPr/>
          <p:nvPr/>
        </p:nvSpPr>
        <p:spPr>
          <a:xfrm rot="5400000">
            <a:off x="4894560" y="2846520"/>
            <a:ext cx="200520" cy="20052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4" name="Rectangle 15"/>
          <p:cNvSpPr/>
          <p:nvPr/>
        </p:nvSpPr>
        <p:spPr>
          <a:xfrm>
            <a:off x="5127120" y="2352960"/>
            <a:ext cx="1936440" cy="11880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 name="Rectangle 16"/>
          <p:cNvSpPr/>
          <p:nvPr/>
        </p:nvSpPr>
        <p:spPr>
          <a:xfrm>
            <a:off x="5127120" y="2352960"/>
            <a:ext cx="1936440" cy="450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76" name="TextBox 17"/>
          <p:cNvSpPr/>
          <p:nvPr/>
        </p:nvSpPr>
        <p:spPr>
          <a:xfrm>
            <a:off x="5291640" y="2554200"/>
            <a:ext cx="1607400" cy="6724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99"/>
              </a:spcAft>
            </a:pPr>
            <a:r>
              <a:rPr b="1" lang="en-US" sz="1350" spc="-1" strike="noStrike">
                <a:solidFill>
                  <a:srgbClr val="0f172a"/>
                </a:solidFill>
                <a:latin typeface="Segoe UI"/>
              </a:rPr>
              <a:t>Detect</a:t>
            </a:r>
            <a:endParaRPr b="0" lang="en-US" sz="1350" spc="-1" strike="noStrike">
              <a:solidFill>
                <a:srgbClr val="000000"/>
              </a:solidFill>
              <a:latin typeface="Arial"/>
            </a:endParaRPr>
          </a:p>
          <a:p>
            <a:pPr defTabSz="457200">
              <a:lnSpc>
                <a:spcPct val="120000"/>
              </a:lnSpc>
            </a:pPr>
            <a:r>
              <a:rPr b="0" lang="en-US" sz="1050" spc="-1" strike="noStrike">
                <a:solidFill>
                  <a:srgbClr val="64748b"/>
                </a:solidFill>
                <a:latin typeface="Segoe UI"/>
              </a:rPr>
              <a:t>File kind from magic bytes</a:t>
            </a:r>
            <a:endParaRPr b="0" lang="en-US" sz="1050" spc="-1" strike="noStrike">
              <a:solidFill>
                <a:srgbClr val="000000"/>
              </a:solidFill>
              <a:latin typeface="Arial"/>
            </a:endParaRPr>
          </a:p>
        </p:txBody>
      </p:sp>
      <p:sp>
        <p:nvSpPr>
          <p:cNvPr id="277" name="Isosceles Triangle 18"/>
          <p:cNvSpPr/>
          <p:nvPr/>
        </p:nvSpPr>
        <p:spPr>
          <a:xfrm rot="5400000">
            <a:off x="7069680" y="2846520"/>
            <a:ext cx="200520" cy="20052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8" name="Rectangle 19"/>
          <p:cNvSpPr/>
          <p:nvPr/>
        </p:nvSpPr>
        <p:spPr>
          <a:xfrm>
            <a:off x="7302240" y="2352960"/>
            <a:ext cx="1936440" cy="11880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 name="Rectangle 20"/>
          <p:cNvSpPr/>
          <p:nvPr/>
        </p:nvSpPr>
        <p:spPr>
          <a:xfrm>
            <a:off x="7302240" y="2352960"/>
            <a:ext cx="1936440" cy="450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80" name="TextBox 21"/>
          <p:cNvSpPr/>
          <p:nvPr/>
        </p:nvSpPr>
        <p:spPr>
          <a:xfrm>
            <a:off x="7466760" y="2554200"/>
            <a:ext cx="1607400" cy="6724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99"/>
              </a:spcAft>
            </a:pPr>
            <a:r>
              <a:rPr b="1" lang="en-US" sz="1350" spc="-1" strike="noStrike">
                <a:solidFill>
                  <a:srgbClr val="0f172a"/>
                </a:solidFill>
                <a:latin typeface="Segoe UI"/>
              </a:rPr>
              <a:t>Route</a:t>
            </a:r>
            <a:endParaRPr b="0" lang="en-US" sz="1350" spc="-1" strike="noStrike">
              <a:solidFill>
                <a:srgbClr val="000000"/>
              </a:solidFill>
              <a:latin typeface="Arial"/>
            </a:endParaRPr>
          </a:p>
          <a:p>
            <a:pPr defTabSz="457200">
              <a:lnSpc>
                <a:spcPct val="120000"/>
              </a:lnSpc>
            </a:pPr>
            <a:r>
              <a:rPr b="0" lang="en-US" sz="1050" spc="-1" strike="noStrike">
                <a:solidFill>
                  <a:srgbClr val="64748b"/>
                </a:solidFill>
                <a:latin typeface="Segoe UI"/>
              </a:rPr>
              <a:t>Kind-keyed lookup to an engine</a:t>
            </a:r>
            <a:endParaRPr b="0" lang="en-US" sz="1050" spc="-1" strike="noStrike">
              <a:solidFill>
                <a:srgbClr val="000000"/>
              </a:solidFill>
              <a:latin typeface="Arial"/>
            </a:endParaRPr>
          </a:p>
        </p:txBody>
      </p:sp>
      <p:sp>
        <p:nvSpPr>
          <p:cNvPr id="281" name="Isosceles Triangle 22"/>
          <p:cNvSpPr/>
          <p:nvPr/>
        </p:nvSpPr>
        <p:spPr>
          <a:xfrm rot="5400000">
            <a:off x="9244800" y="2846520"/>
            <a:ext cx="200520" cy="200520"/>
          </a:xfrm>
          <a:prstGeom prst="triangle">
            <a:avLst>
              <a:gd name="adj"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2" name="Rectangle 23"/>
          <p:cNvSpPr/>
          <p:nvPr/>
        </p:nvSpPr>
        <p:spPr>
          <a:xfrm>
            <a:off x="9477360" y="2352960"/>
            <a:ext cx="1936440" cy="11880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 name="Rectangle 24"/>
          <p:cNvSpPr/>
          <p:nvPr/>
        </p:nvSpPr>
        <p:spPr>
          <a:xfrm>
            <a:off x="9477360" y="2352960"/>
            <a:ext cx="1936440" cy="450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84" name="TextBox 25"/>
          <p:cNvSpPr/>
          <p:nvPr/>
        </p:nvSpPr>
        <p:spPr>
          <a:xfrm>
            <a:off x="9641880" y="2554200"/>
            <a:ext cx="1607400" cy="6724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99"/>
              </a:spcAft>
            </a:pPr>
            <a:r>
              <a:rPr b="1" lang="en-US" sz="1350" spc="-1" strike="noStrike">
                <a:solidFill>
                  <a:srgbClr val="0f172a"/>
                </a:solidFill>
                <a:latin typeface="Segoe UI"/>
              </a:rPr>
              <a:t>Assemble</a:t>
            </a:r>
            <a:endParaRPr b="0" lang="en-US" sz="1350" spc="-1" strike="noStrike">
              <a:solidFill>
                <a:srgbClr val="000000"/>
              </a:solidFill>
              <a:latin typeface="Arial"/>
            </a:endParaRPr>
          </a:p>
          <a:p>
            <a:pPr defTabSz="457200">
              <a:lnSpc>
                <a:spcPct val="120000"/>
              </a:lnSpc>
            </a:pPr>
            <a:r>
              <a:rPr b="0" lang="en-US" sz="1050" spc="-1" strike="noStrike">
                <a:solidFill>
                  <a:srgbClr val="64748b"/>
                </a:solidFill>
                <a:latin typeface="Segoe UI"/>
              </a:rPr>
              <a:t>Results returned in request order</a:t>
            </a:r>
            <a:endParaRPr b="0" lang="en-US" sz="1050" spc="-1" strike="noStrike">
              <a:solidFill>
                <a:srgbClr val="000000"/>
              </a:solidFill>
              <a:latin typeface="Arial"/>
            </a:endParaRPr>
          </a:p>
        </p:txBody>
      </p:sp>
      <p:sp>
        <p:nvSpPr>
          <p:cNvPr id="285" name="Rectangle 26"/>
          <p:cNvSpPr/>
          <p:nvPr/>
        </p:nvSpPr>
        <p:spPr>
          <a:xfrm>
            <a:off x="777240" y="3852360"/>
            <a:ext cx="10636560" cy="2193840"/>
          </a:xfrm>
          <a:prstGeom prst="rect">
            <a:avLst/>
          </a:prstGeom>
          <a:solidFill>
            <a:srgbClr val="f1f5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6" name="TextBox 27"/>
          <p:cNvSpPr/>
          <p:nvPr/>
        </p:nvSpPr>
        <p:spPr>
          <a:xfrm>
            <a:off x="1097280" y="4035240"/>
            <a:ext cx="8228880" cy="256680"/>
          </a:xfrm>
          <a:prstGeom prst="rect">
            <a:avLst/>
          </a:prstGeom>
          <a:noFill/>
          <a:ln w="0">
            <a:noFill/>
          </a:ln>
        </p:spPr>
        <p:style>
          <a:lnRef idx="0"/>
          <a:fillRef idx="0"/>
          <a:effectRef idx="0"/>
          <a:fontRef idx="minor"/>
        </p:style>
        <p:txBody>
          <a:bodyPr lIns="0" rIns="0" tIns="0" bIns="0" anchor="t">
            <a:spAutoFit/>
          </a:bodyPr>
          <a:p>
            <a:pPr defTabSz="457200">
              <a:lnSpc>
                <a:spcPct val="125000"/>
              </a:lnSpc>
            </a:pPr>
            <a:r>
              <a:rPr b="1" lang="en-US" sz="1350" spc="-1" strike="noStrike">
                <a:solidFill>
                  <a:srgbClr val="0f172a"/>
                </a:solidFill>
                <a:latin typeface="Segoe UI"/>
              </a:rPr>
              <a:t>Engines — one interface, selected by detected kind</a:t>
            </a:r>
            <a:endParaRPr b="0" lang="en-US" sz="1350" spc="-1" strike="noStrike">
              <a:solidFill>
                <a:srgbClr val="000000"/>
              </a:solidFill>
              <a:latin typeface="Arial"/>
            </a:endParaRPr>
          </a:p>
        </p:txBody>
      </p:sp>
      <p:sp>
        <p:nvSpPr>
          <p:cNvPr id="287" name="Rectangle 28"/>
          <p:cNvSpPr/>
          <p:nvPr/>
        </p:nvSpPr>
        <p:spPr>
          <a:xfrm>
            <a:off x="1097280" y="4437720"/>
            <a:ext cx="3173040" cy="93204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 name="Rectangle 29"/>
          <p:cNvSpPr/>
          <p:nvPr/>
        </p:nvSpPr>
        <p:spPr>
          <a:xfrm>
            <a:off x="1097280" y="4437720"/>
            <a:ext cx="45000" cy="932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9" name="TextBox 30"/>
          <p:cNvSpPr/>
          <p:nvPr/>
        </p:nvSpPr>
        <p:spPr>
          <a:xfrm>
            <a:off x="1334880" y="4583880"/>
            <a:ext cx="2715840" cy="69012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00"/>
              </a:spcAft>
            </a:pPr>
            <a:r>
              <a:rPr b="1" lang="en-US" sz="1300" spc="-1" strike="noStrike">
                <a:solidFill>
                  <a:srgbClr val="1d4ed8"/>
                </a:solidFill>
                <a:latin typeface="Segoe UI"/>
              </a:rPr>
              <a:t>Layout Engine</a:t>
            </a:r>
            <a:endParaRPr b="0" lang="en-US" sz="1300" spc="-1" strike="noStrike">
              <a:solidFill>
                <a:srgbClr val="000000"/>
              </a:solidFill>
              <a:latin typeface="Arial"/>
            </a:endParaRPr>
          </a:p>
          <a:p>
            <a:pPr defTabSz="457200">
              <a:lnSpc>
                <a:spcPct val="110000"/>
              </a:lnSpc>
              <a:spcAft>
                <a:spcPts val="400"/>
              </a:spcAft>
            </a:pPr>
            <a:r>
              <a:rPr b="0" lang="en-US" sz="1050" spc="-1" strike="noStrike">
                <a:solidFill>
                  <a:srgbClr val="64748b"/>
                </a:solidFill>
                <a:latin typeface="Segoe UI"/>
              </a:rPr>
              <a:t>PDF · DOCX · PPTX · HTML</a:t>
            </a:r>
            <a:endParaRPr b="0" lang="en-US" sz="1050" spc="-1" strike="noStrike">
              <a:solidFill>
                <a:srgbClr val="000000"/>
              </a:solidFill>
              <a:latin typeface="Arial"/>
            </a:endParaRPr>
          </a:p>
          <a:p>
            <a:pPr defTabSz="457200">
              <a:lnSpc>
                <a:spcPct val="122000"/>
              </a:lnSpc>
            </a:pPr>
            <a:r>
              <a:rPr b="0" lang="en-US" sz="1050" spc="-1" strike="noStrike">
                <a:solidFill>
                  <a:srgbClr val="64748b"/>
                </a:solidFill>
                <a:latin typeface="Segoe UI"/>
              </a:rPr>
              <a:t>Cloud layout model → Markdown</a:t>
            </a:r>
            <a:endParaRPr b="0" lang="en-US" sz="1050" spc="-1" strike="noStrike">
              <a:solidFill>
                <a:srgbClr val="000000"/>
              </a:solidFill>
              <a:latin typeface="Arial"/>
            </a:endParaRPr>
          </a:p>
        </p:txBody>
      </p:sp>
      <p:sp>
        <p:nvSpPr>
          <p:cNvPr id="290" name="Rectangle 31"/>
          <p:cNvSpPr/>
          <p:nvPr/>
        </p:nvSpPr>
        <p:spPr>
          <a:xfrm>
            <a:off x="4509000" y="4437720"/>
            <a:ext cx="3173040" cy="93204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1" name="Rectangle 32"/>
          <p:cNvSpPr/>
          <p:nvPr/>
        </p:nvSpPr>
        <p:spPr>
          <a:xfrm>
            <a:off x="4509000" y="4437720"/>
            <a:ext cx="45000" cy="93204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2" name="TextBox 33"/>
          <p:cNvSpPr/>
          <p:nvPr/>
        </p:nvSpPr>
        <p:spPr>
          <a:xfrm>
            <a:off x="4746600" y="4583880"/>
            <a:ext cx="2715840" cy="69012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00"/>
              </a:spcAft>
            </a:pPr>
            <a:r>
              <a:rPr b="1" lang="en-US" sz="1300" spc="-1" strike="noStrike">
                <a:solidFill>
                  <a:srgbClr val="0f766e"/>
                </a:solidFill>
                <a:latin typeface="Segoe UI"/>
              </a:rPr>
              <a:t>Spreadsheet Engine</a:t>
            </a:r>
            <a:endParaRPr b="0" lang="en-US" sz="1300" spc="-1" strike="noStrike">
              <a:solidFill>
                <a:srgbClr val="000000"/>
              </a:solidFill>
              <a:latin typeface="Arial"/>
            </a:endParaRPr>
          </a:p>
          <a:p>
            <a:pPr defTabSz="457200">
              <a:lnSpc>
                <a:spcPct val="110000"/>
              </a:lnSpc>
              <a:spcAft>
                <a:spcPts val="400"/>
              </a:spcAft>
            </a:pPr>
            <a:r>
              <a:rPr b="0" lang="en-US" sz="1050" spc="-1" strike="noStrike">
                <a:solidFill>
                  <a:srgbClr val="64748b"/>
                </a:solidFill>
                <a:latin typeface="Segoe UI"/>
              </a:rPr>
              <a:t>XLSX</a:t>
            </a:r>
            <a:endParaRPr b="0" lang="en-US" sz="1050" spc="-1" strike="noStrike">
              <a:solidFill>
                <a:srgbClr val="000000"/>
              </a:solidFill>
              <a:latin typeface="Arial"/>
            </a:endParaRPr>
          </a:p>
          <a:p>
            <a:pPr defTabSz="457200">
              <a:lnSpc>
                <a:spcPct val="122000"/>
              </a:lnSpc>
            </a:pPr>
            <a:r>
              <a:rPr b="0" lang="en-US" sz="1050" spc="-1" strike="noStrike">
                <a:solidFill>
                  <a:srgbClr val="64748b"/>
                </a:solidFill>
                <a:latin typeface="Segoe UI"/>
              </a:rPr>
              <a:t>OpenXML, in-process, no network</a:t>
            </a:r>
            <a:endParaRPr b="0" lang="en-US" sz="1050" spc="-1" strike="noStrike">
              <a:solidFill>
                <a:srgbClr val="000000"/>
              </a:solidFill>
              <a:latin typeface="Arial"/>
            </a:endParaRPr>
          </a:p>
        </p:txBody>
      </p:sp>
      <p:sp>
        <p:nvSpPr>
          <p:cNvPr id="293" name="Rectangle 34"/>
          <p:cNvSpPr/>
          <p:nvPr/>
        </p:nvSpPr>
        <p:spPr>
          <a:xfrm>
            <a:off x="7920360" y="4437720"/>
            <a:ext cx="3173040" cy="93204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4" name="Rectangle 35"/>
          <p:cNvSpPr/>
          <p:nvPr/>
        </p:nvSpPr>
        <p:spPr>
          <a:xfrm>
            <a:off x="7920360" y="4437720"/>
            <a:ext cx="45000" cy="93204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5" name="TextBox 36"/>
          <p:cNvSpPr/>
          <p:nvPr/>
        </p:nvSpPr>
        <p:spPr>
          <a:xfrm>
            <a:off x="8158320" y="4583880"/>
            <a:ext cx="2715840" cy="69012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400"/>
              </a:spcAft>
            </a:pPr>
            <a:r>
              <a:rPr b="1" lang="en-US" sz="1300" spc="-1" strike="noStrike">
                <a:solidFill>
                  <a:srgbClr val="6d28d9"/>
                </a:solidFill>
                <a:latin typeface="Segoe UI"/>
              </a:rPr>
              <a:t>Vision Engine</a:t>
            </a:r>
            <a:endParaRPr b="0" lang="en-US" sz="1300" spc="-1" strike="noStrike">
              <a:solidFill>
                <a:srgbClr val="000000"/>
              </a:solidFill>
              <a:latin typeface="Arial"/>
            </a:endParaRPr>
          </a:p>
          <a:p>
            <a:pPr defTabSz="457200">
              <a:lnSpc>
                <a:spcPct val="110000"/>
              </a:lnSpc>
              <a:spcAft>
                <a:spcPts val="400"/>
              </a:spcAft>
            </a:pPr>
            <a:r>
              <a:rPr b="0" lang="en-US" sz="1050" spc="-1" strike="noStrike">
                <a:solidFill>
                  <a:srgbClr val="64748b"/>
                </a:solidFill>
                <a:latin typeface="Segoe UI"/>
              </a:rPr>
              <a:t>JPG · PNG</a:t>
            </a:r>
            <a:endParaRPr b="0" lang="en-US" sz="1050" spc="-1" strike="noStrike">
              <a:solidFill>
                <a:srgbClr val="000000"/>
              </a:solidFill>
              <a:latin typeface="Arial"/>
            </a:endParaRPr>
          </a:p>
          <a:p>
            <a:pPr defTabSz="457200">
              <a:lnSpc>
                <a:spcPct val="122000"/>
              </a:lnSpc>
            </a:pPr>
            <a:r>
              <a:rPr b="0" lang="en-US" sz="1050" spc="-1" strike="noStrike">
                <a:solidFill>
                  <a:srgbClr val="64748b"/>
                </a:solidFill>
                <a:latin typeface="Segoe UI"/>
              </a:rPr>
              <a:t>Multimodal model → description</a:t>
            </a:r>
            <a:endParaRPr b="0" lang="en-US" sz="1050" spc="-1" strike="noStrike">
              <a:solidFill>
                <a:srgbClr val="000000"/>
              </a:solidFill>
              <a:latin typeface="Arial"/>
            </a:endParaRPr>
          </a:p>
        </p:txBody>
      </p:sp>
      <p:sp>
        <p:nvSpPr>
          <p:cNvPr id="296" name="TextBox 37"/>
          <p:cNvSpPr/>
          <p:nvPr/>
        </p:nvSpPr>
        <p:spPr>
          <a:xfrm>
            <a:off x="1097280" y="5516640"/>
            <a:ext cx="9996480" cy="456840"/>
          </a:xfrm>
          <a:prstGeom prst="rect">
            <a:avLst/>
          </a:prstGeom>
          <a:noFill/>
          <a:ln w="0">
            <a:noFill/>
          </a:ln>
        </p:spPr>
        <p:style>
          <a:lnRef idx="0"/>
          <a:fillRef idx="0"/>
          <a:effectRef idx="0"/>
          <a:fontRef idx="minor"/>
        </p:style>
        <p:txBody>
          <a:bodyPr lIns="0" rIns="0" tIns="0" bIns="0" anchor="t">
            <a:spAutoFit/>
          </a:bodyPr>
          <a:p>
            <a:pPr defTabSz="457200">
              <a:lnSpc>
                <a:spcPct val="125000"/>
              </a:lnSpc>
            </a:pPr>
            <a:r>
              <a:rPr b="1" lang="en-US" sz="1200" spc="-1" strike="noStrike">
                <a:solidFill>
                  <a:srgbClr val="0f172a"/>
                </a:solidFill>
                <a:latin typeface="Segoe UI"/>
              </a:rPr>
              <a:t>Adding a format is adding one class. </a:t>
            </a:r>
            <a:r>
              <a:rPr b="0" lang="en-US" sz="1200" spc="-1" strike="noStrike">
                <a:solidFill>
                  <a:srgbClr val="64748b"/>
                </a:solidFill>
                <a:latin typeface="Segoe UI"/>
              </a:rPr>
              <a:t>Each engine declares the kinds it handles and returns the same result shape; the router owns the timeout and the catch-all.</a:t>
            </a:r>
            <a:endParaRPr b="0" lang="en-US" sz="1200" spc="-1" strike="noStrike">
              <a:solidFill>
                <a:srgbClr val="000000"/>
              </a:solidFill>
              <a:latin typeface="Arial"/>
            </a:endParaRPr>
          </a:p>
        </p:txBody>
      </p:sp>
      <p:sp>
        <p:nvSpPr>
          <p:cNvPr id="297" name="TextBox 38"/>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12</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9"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0"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STEP ONE</a:t>
            </a:r>
            <a:endParaRPr b="0" lang="en-US" sz="1150" spc="-1" strike="noStrike">
              <a:solidFill>
                <a:srgbClr val="000000"/>
              </a:solidFill>
              <a:latin typeface="Arial"/>
            </a:endParaRPr>
          </a:p>
        </p:txBody>
      </p:sp>
      <p:sp>
        <p:nvSpPr>
          <p:cNvPr id="301"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Detect the kind from the bytes, not the name</a:t>
            </a:r>
            <a:endParaRPr b="0" lang="en-US" sz="3000" spc="-1" strike="noStrike">
              <a:solidFill>
                <a:srgbClr val="000000"/>
              </a:solidFill>
              <a:latin typeface="Arial"/>
            </a:endParaRPr>
          </a:p>
        </p:txBody>
      </p:sp>
      <p:sp>
        <p:nvSpPr>
          <p:cNvPr id="302"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File extensions and declared content types are caller-supplied. Magic bytes are not.</a:t>
            </a:r>
            <a:endParaRPr b="0" lang="en-US" sz="1450" spc="-1" strike="noStrike">
              <a:solidFill>
                <a:srgbClr val="000000"/>
              </a:solidFill>
              <a:latin typeface="Arial"/>
            </a:endParaRPr>
          </a:p>
        </p:txBody>
      </p:sp>
      <p:sp>
        <p:nvSpPr>
          <p:cNvPr id="303"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304" name="Table 7"/>
          <p:cNvGraphicFramePr/>
          <p:nvPr/>
        </p:nvGraphicFramePr>
        <p:xfrm>
          <a:off x="777240" y="2352960"/>
          <a:ext cx="10634040" cy="2441160"/>
        </p:xfrm>
        <a:graphic>
          <a:graphicData uri="http://schemas.openxmlformats.org/drawingml/2006/table">
            <a:tbl>
              <a:tblPr/>
              <a:tblGrid>
                <a:gridCol w="2880360"/>
                <a:gridCol w="2331720"/>
                <a:gridCol w="5422320"/>
              </a:tblGrid>
              <a:tr h="383760">
                <a:tc>
                  <a:txBody>
                    <a:bodyPr lIns="146160" anchor="ctr">
                      <a:noAutofit/>
                    </a:bodyPr>
                    <a:p>
                      <a:pPr defTabSz="457200">
                        <a:lnSpc>
                          <a:spcPct val="112000"/>
                        </a:lnSpc>
                      </a:pPr>
                      <a:r>
                        <a:rPr b="1" lang="en-US" sz="1200" spc="-1" strike="noStrike">
                          <a:solidFill>
                            <a:srgbClr val="ffffff"/>
                          </a:solidFill>
                          <a:latin typeface="Segoe UI"/>
                        </a:rPr>
                        <a:t>Signature at offset 0</a:t>
                      </a:r>
                      <a:endParaRPr b="0" lang="en-US" sz="120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c>
                  <a:txBody>
                    <a:bodyPr lIns="146160" anchor="ctr">
                      <a:noAutofit/>
                    </a:bodyPr>
                    <a:p>
                      <a:pPr defTabSz="457200">
                        <a:lnSpc>
                          <a:spcPct val="112000"/>
                        </a:lnSpc>
                      </a:pPr>
                      <a:r>
                        <a:rPr b="1" lang="en-US" sz="1200" spc="-1" strike="noStrike">
                          <a:solidFill>
                            <a:srgbClr val="ffffff"/>
                          </a:solidFill>
                          <a:latin typeface="Segoe UI"/>
                        </a:rPr>
                        <a:t>Detected as</a:t>
                      </a:r>
                      <a:endParaRPr b="0" lang="en-US" sz="120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c>
                  <a:txBody>
                    <a:bodyPr lIns="146160" anchor="ctr">
                      <a:noAutofit/>
                    </a:bodyPr>
                    <a:p>
                      <a:pPr defTabSz="457200">
                        <a:lnSpc>
                          <a:spcPct val="112000"/>
                        </a:lnSpc>
                      </a:pPr>
                      <a:r>
                        <a:rPr b="1" lang="en-US" sz="1200" spc="-1" strike="noStrike">
                          <a:solidFill>
                            <a:srgbClr val="ffffff"/>
                          </a:solidFill>
                          <a:latin typeface="Segoe UI"/>
                        </a:rPr>
                        <a:t>Then disambiguated by</a:t>
                      </a:r>
                      <a:endParaRPr b="0" lang="en-US" sz="120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r>
              <a:tr h="411480">
                <a:tc>
                  <a:txBody>
                    <a:bodyPr lIns="146160" anchor="ctr">
                      <a:noAutofit/>
                    </a:bodyPr>
                    <a:p>
                      <a:pPr defTabSz="457200">
                        <a:lnSpc>
                          <a:spcPct val="112000"/>
                        </a:lnSpc>
                      </a:pPr>
                      <a:r>
                        <a:rPr b="1" lang="en-US" sz="1200" spc="-1" strike="noStrike">
                          <a:solidFill>
                            <a:srgbClr val="0f172a"/>
                          </a:solidFill>
                          <a:latin typeface="Segoe UI"/>
                        </a:rPr>
                        <a:t>%PDF</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00" spc="-1" strike="noStrike">
                          <a:solidFill>
                            <a:srgbClr val="0f172a"/>
                          </a:solidFill>
                          <a:latin typeface="Segoe UI"/>
                        </a:rPr>
                        <a:t>PDF</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00" spc="-1" strike="noStrike">
                          <a:solidFill>
                            <a:srgbClr val="0f172a"/>
                          </a:solidFill>
                          <a:latin typeface="Segoe UI"/>
                        </a:rPr>
                        <a:t>—</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411480">
                <a:tc>
                  <a:txBody>
                    <a:bodyPr lIns="146160" anchor="ctr">
                      <a:noAutofit/>
                    </a:bodyPr>
                    <a:p>
                      <a:pPr defTabSz="457200">
                        <a:lnSpc>
                          <a:spcPct val="112000"/>
                        </a:lnSpc>
                      </a:pPr>
                      <a:r>
                        <a:rPr b="1" lang="en-US" sz="1200" spc="-1" strike="noStrike">
                          <a:solidFill>
                            <a:srgbClr val="0f172a"/>
                          </a:solidFill>
                          <a:latin typeface="Segoe UI"/>
                        </a:rPr>
                        <a:t>\x89PNG\r\n\x1a\n</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00" spc="-1" strike="noStrike">
                          <a:solidFill>
                            <a:srgbClr val="0f172a"/>
                          </a:solidFill>
                          <a:latin typeface="Segoe UI"/>
                        </a:rPr>
                        <a:t>PNG image</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00" spc="-1" strike="noStrike">
                          <a:solidFill>
                            <a:srgbClr val="0f172a"/>
                          </a:solidFill>
                          <a:latin typeface="Segoe UI"/>
                        </a:rPr>
                        <a:t>—</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411480">
                <a:tc>
                  <a:txBody>
                    <a:bodyPr lIns="146160" anchor="ctr">
                      <a:noAutofit/>
                    </a:bodyPr>
                    <a:p>
                      <a:pPr defTabSz="457200">
                        <a:lnSpc>
                          <a:spcPct val="112000"/>
                        </a:lnSpc>
                      </a:pPr>
                      <a:r>
                        <a:rPr b="1" lang="en-US" sz="1200" spc="-1" strike="noStrike">
                          <a:solidFill>
                            <a:srgbClr val="0f172a"/>
                          </a:solidFill>
                          <a:latin typeface="Segoe UI"/>
                        </a:rPr>
                        <a:t>\xFF\xD8\xFF</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00" spc="-1" strike="noStrike">
                          <a:solidFill>
                            <a:srgbClr val="0f172a"/>
                          </a:solidFill>
                          <a:latin typeface="Segoe UI"/>
                        </a:rPr>
                        <a:t>JPEG image</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00" spc="-1" strike="noStrike">
                          <a:solidFill>
                            <a:srgbClr val="0f172a"/>
                          </a:solidFill>
                          <a:latin typeface="Segoe UI"/>
                        </a:rPr>
                        <a:t>—</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411480">
                <a:tc>
                  <a:txBody>
                    <a:bodyPr lIns="146160" anchor="ctr">
                      <a:noAutofit/>
                    </a:bodyPr>
                    <a:p>
                      <a:pPr defTabSz="457200">
                        <a:lnSpc>
                          <a:spcPct val="112000"/>
                        </a:lnSpc>
                      </a:pPr>
                      <a:r>
                        <a:rPr b="1" lang="en-US" sz="1200" spc="-1" strike="noStrike">
                          <a:solidFill>
                            <a:srgbClr val="0f172a"/>
                          </a:solidFill>
                          <a:latin typeface="Segoe UI"/>
                        </a:rPr>
                        <a:t>PK  (ZIP container)</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00" spc="-1" strike="noStrike">
                          <a:solidFill>
                            <a:srgbClr val="0f172a"/>
                          </a:solidFill>
                          <a:latin typeface="Segoe UI"/>
                        </a:rPr>
                        <a:t>Office document</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00" spc="-1" strike="noStrike">
                          <a:solidFill>
                            <a:srgbClr val="0f172a"/>
                          </a:solidFill>
                          <a:latin typeface="Segoe UI"/>
                        </a:rPr>
                        <a:t>Content type, else extension → DOCX / XLSX / PPTX</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411480">
                <a:tc>
                  <a:txBody>
                    <a:bodyPr lIns="146160" anchor="ctr">
                      <a:noAutofit/>
                    </a:bodyPr>
                    <a:p>
                      <a:pPr defTabSz="457200">
                        <a:lnSpc>
                          <a:spcPct val="112000"/>
                        </a:lnSpc>
                      </a:pPr>
                      <a:r>
                        <a:rPr b="1" lang="en-US" sz="1200" spc="-1" strike="noStrike">
                          <a:solidFill>
                            <a:srgbClr val="0f172a"/>
                          </a:solidFill>
                          <a:latin typeface="Segoe UI"/>
                        </a:rPr>
                        <a:t>&lt;!doctype  or  &lt;html</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00" spc="-1" strike="noStrike">
                          <a:solidFill>
                            <a:srgbClr val="0f172a"/>
                          </a:solidFill>
                          <a:latin typeface="Segoe UI"/>
                        </a:rPr>
                        <a:t>HTML</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00" spc="-1" strike="noStrike">
                          <a:solidFill>
                            <a:srgbClr val="0f172a"/>
                          </a:solidFill>
                          <a:latin typeface="Segoe UI"/>
                        </a:rPr>
                        <a:t>Also accepted on content type or .html / .htm</a:t>
                      </a:r>
                      <a:endParaRPr b="0" lang="en-US" sz="120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bl>
          </a:graphicData>
        </a:graphic>
      </p:graphicFrame>
      <p:sp>
        <p:nvSpPr>
          <p:cNvPr id="305" name="Rectangle 8"/>
          <p:cNvSpPr/>
          <p:nvPr/>
        </p:nvSpPr>
        <p:spPr>
          <a:xfrm>
            <a:off x="777240" y="5105160"/>
            <a:ext cx="5165640" cy="12063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6" name="Rectangle 9"/>
          <p:cNvSpPr/>
          <p:nvPr/>
        </p:nvSpPr>
        <p:spPr>
          <a:xfrm>
            <a:off x="777240" y="5105160"/>
            <a:ext cx="45000" cy="120636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7" name="TextBox 10"/>
          <p:cNvSpPr/>
          <p:nvPr/>
        </p:nvSpPr>
        <p:spPr>
          <a:xfrm>
            <a:off x="1069920" y="5269680"/>
            <a:ext cx="4617000" cy="99072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601"/>
              </a:spcAft>
            </a:pPr>
            <a:r>
              <a:rPr b="1" lang="en-US" sz="1300" spc="-1" strike="noStrike">
                <a:solidFill>
                  <a:srgbClr val="0f172a"/>
                </a:solidFill>
                <a:latin typeface="Segoe UI"/>
              </a:rPr>
              <a:t>When the claim contradicts the bytes</a:t>
            </a:r>
            <a:endParaRPr b="0" lang="en-US" sz="1300" spc="-1" strike="noStrike">
              <a:solidFill>
                <a:srgbClr val="000000"/>
              </a:solidFill>
              <a:latin typeface="Arial"/>
            </a:endParaRPr>
          </a:p>
          <a:p>
            <a:pPr defTabSz="457200">
              <a:lnSpc>
                <a:spcPct val="127000"/>
              </a:lnSpc>
            </a:pPr>
            <a:r>
              <a:rPr b="0" lang="en-US" sz="1200" spc="-1" strike="noStrike">
                <a:solidFill>
                  <a:srgbClr val="64748b"/>
                </a:solidFill>
                <a:latin typeface="Segoe UI"/>
              </a:rPr>
              <a:t>The bytes win, the file is still processed, and a warning names the mismatch. A mislabelled upload is common and entirely recoverable.</a:t>
            </a:r>
            <a:endParaRPr b="0" lang="en-US" sz="1200" spc="-1" strike="noStrike">
              <a:solidFill>
                <a:srgbClr val="000000"/>
              </a:solidFill>
              <a:latin typeface="Arial"/>
            </a:endParaRPr>
          </a:p>
        </p:txBody>
      </p:sp>
      <p:sp>
        <p:nvSpPr>
          <p:cNvPr id="308" name="Rectangle 11"/>
          <p:cNvSpPr/>
          <p:nvPr/>
        </p:nvSpPr>
        <p:spPr>
          <a:xfrm>
            <a:off x="6263640" y="5105160"/>
            <a:ext cx="5147280" cy="120636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9" name="Rectangle 12"/>
          <p:cNvSpPr/>
          <p:nvPr/>
        </p:nvSpPr>
        <p:spPr>
          <a:xfrm>
            <a:off x="6263640" y="5105160"/>
            <a:ext cx="45000" cy="1206360"/>
          </a:xfrm>
          <a:prstGeom prst="rect">
            <a:avLst/>
          </a:prstGeom>
          <a:solidFill>
            <a:srgbClr val="c241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0" name="TextBox 13"/>
          <p:cNvSpPr/>
          <p:nvPr/>
        </p:nvSpPr>
        <p:spPr>
          <a:xfrm>
            <a:off x="6556320" y="5269680"/>
            <a:ext cx="4598640" cy="75888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601"/>
              </a:spcAft>
            </a:pPr>
            <a:r>
              <a:rPr b="1" lang="en-US" sz="1300" spc="-1" strike="noStrike">
                <a:solidFill>
                  <a:srgbClr val="0f172a"/>
                </a:solidFill>
                <a:latin typeface="Segoe UI"/>
              </a:rPr>
              <a:t>When nothing matches</a:t>
            </a:r>
            <a:endParaRPr b="0" lang="en-US" sz="1300" spc="-1" strike="noStrike">
              <a:solidFill>
                <a:srgbClr val="000000"/>
              </a:solidFill>
              <a:latin typeface="Arial"/>
            </a:endParaRPr>
          </a:p>
          <a:p>
            <a:pPr defTabSz="457200">
              <a:lnSpc>
                <a:spcPct val="127000"/>
              </a:lnSpc>
            </a:pPr>
            <a:r>
              <a:rPr b="0" lang="en-US" sz="1200" spc="-1" strike="noStrike">
                <a:solidFill>
                  <a:srgbClr val="64748b"/>
                </a:solidFill>
                <a:latin typeface="Segoe UI"/>
              </a:rPr>
              <a:t>That file gets an unsupported_type error and the batch proceeds untouched. Detection failure is a per-file outcome.</a:t>
            </a:r>
            <a:endParaRPr b="0" lang="en-US" sz="1200" spc="-1" strike="noStrike">
              <a:solidFill>
                <a:srgbClr val="000000"/>
              </a:solidFill>
              <a:latin typeface="Arial"/>
            </a:endParaRPr>
          </a:p>
        </p:txBody>
      </p:sp>
      <p:sp>
        <p:nvSpPr>
          <p:cNvPr id="311" name="TextBox 14"/>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13</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3"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4"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STEP TWO</a:t>
            </a:r>
            <a:endParaRPr b="0" lang="en-US" sz="1150" spc="-1" strike="noStrike">
              <a:solidFill>
                <a:srgbClr val="000000"/>
              </a:solidFill>
              <a:latin typeface="Arial"/>
            </a:endParaRPr>
          </a:p>
        </p:txBody>
      </p:sp>
      <p:sp>
        <p:nvSpPr>
          <p:cNvPr id="315"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One kind, one engine, one strategy</a:t>
            </a:r>
            <a:endParaRPr b="0" lang="en-US" sz="3000" spc="-1" strike="noStrike">
              <a:solidFill>
                <a:srgbClr val="000000"/>
              </a:solidFill>
              <a:latin typeface="Arial"/>
            </a:endParaRPr>
          </a:p>
        </p:txBody>
      </p:sp>
      <p:sp>
        <p:nvSpPr>
          <p:cNvPr id="316"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Three different problems, so three different implementations — not one library pressed into every shape.</a:t>
            </a:r>
            <a:endParaRPr b="0" lang="en-US" sz="1450" spc="-1" strike="noStrike">
              <a:solidFill>
                <a:srgbClr val="000000"/>
              </a:solidFill>
              <a:latin typeface="Arial"/>
            </a:endParaRPr>
          </a:p>
        </p:txBody>
      </p:sp>
      <p:sp>
        <p:nvSpPr>
          <p:cNvPr id="317"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318" name="Table 7"/>
          <p:cNvGraphicFramePr/>
          <p:nvPr/>
        </p:nvGraphicFramePr>
        <p:xfrm>
          <a:off x="777240" y="2352960"/>
          <a:ext cx="10634040" cy="2889360"/>
        </p:xfrm>
        <a:graphic>
          <a:graphicData uri="http://schemas.openxmlformats.org/drawingml/2006/table">
            <a:tbl>
              <a:tblPr/>
              <a:tblGrid>
                <a:gridCol w="3063240"/>
                <a:gridCol w="1965960"/>
                <a:gridCol w="3246120"/>
                <a:gridCol w="2359080"/>
              </a:tblGrid>
              <a:tr h="420480">
                <a:tc>
                  <a:txBody>
                    <a:bodyPr lIns="146160" anchor="ctr">
                      <a:noAutofit/>
                    </a:bodyPr>
                    <a:p>
                      <a:pPr defTabSz="457200">
                        <a:lnSpc>
                          <a:spcPct val="112000"/>
                        </a:lnSpc>
                      </a:pPr>
                      <a:r>
                        <a:rPr b="1" lang="en-US" sz="1250" spc="-1" strike="noStrike">
                          <a:solidFill>
                            <a:srgbClr val="ffffff"/>
                          </a:solidFill>
                          <a:latin typeface="Segoe UI"/>
                        </a:rPr>
                        <a:t>File kind</a:t>
                      </a:r>
                      <a:endParaRPr b="0" lang="en-US" sz="125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c>
                  <a:txBody>
                    <a:bodyPr lIns="146160" anchor="ctr">
                      <a:noAutofit/>
                    </a:bodyPr>
                    <a:p>
                      <a:pPr defTabSz="457200">
                        <a:lnSpc>
                          <a:spcPct val="112000"/>
                        </a:lnSpc>
                      </a:pPr>
                      <a:r>
                        <a:rPr b="1" lang="en-US" sz="1250" spc="-1" strike="noStrike">
                          <a:solidFill>
                            <a:srgbClr val="ffffff"/>
                          </a:solidFill>
                          <a:latin typeface="Segoe UI"/>
                        </a:rPr>
                        <a:t>Engine</a:t>
                      </a:r>
                      <a:endParaRPr b="0" lang="en-US" sz="125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c>
                  <a:txBody>
                    <a:bodyPr lIns="146160" anchor="ctr">
                      <a:noAutofit/>
                    </a:bodyPr>
                    <a:p>
                      <a:pPr defTabSz="457200">
                        <a:lnSpc>
                          <a:spcPct val="112000"/>
                        </a:lnSpc>
                      </a:pPr>
                      <a:r>
                        <a:rPr b="1" lang="en-US" sz="1250" spc="-1" strike="noStrike">
                          <a:solidFill>
                            <a:srgbClr val="ffffff"/>
                          </a:solidFill>
                          <a:latin typeface="Segoe UI"/>
                        </a:rPr>
                        <a:t>Technology</a:t>
                      </a:r>
                      <a:endParaRPr b="0" lang="en-US" sz="125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c>
                  <a:txBody>
                    <a:bodyPr lIns="146160" anchor="ctr">
                      <a:noAutofit/>
                    </a:bodyPr>
                    <a:p>
                      <a:pPr defTabSz="457200">
                        <a:lnSpc>
                          <a:spcPct val="112000"/>
                        </a:lnSpc>
                      </a:pPr>
                      <a:r>
                        <a:rPr b="1" lang="en-US" sz="1250" spc="-1" strike="noStrike">
                          <a:solidFill>
                            <a:srgbClr val="ffffff"/>
                          </a:solidFill>
                          <a:latin typeface="Segoe UI"/>
                        </a:rPr>
                        <a:t>Primary output</a:t>
                      </a:r>
                      <a:endParaRPr b="0" lang="en-US" sz="1250" spc="-1" strike="noStrike">
                        <a:solidFill>
                          <a:srgbClr val="ffffff"/>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1d4ed8"/>
                    </a:solidFill>
                  </a:tcPr>
                </a:tc>
              </a:tr>
              <a:tr h="411480">
                <a:tc>
                  <a:txBody>
                    <a:bodyPr lIns="146160" anchor="ctr">
                      <a:noAutofit/>
                    </a:bodyPr>
                    <a:p>
                      <a:pPr defTabSz="457200">
                        <a:lnSpc>
                          <a:spcPct val="112000"/>
                        </a:lnSpc>
                      </a:pPr>
                      <a:r>
                        <a:rPr b="1" lang="en-US" sz="1250" spc="-1" strike="noStrike">
                          <a:solidFill>
                            <a:srgbClr val="0f172a"/>
                          </a:solidFill>
                          <a:latin typeface="Segoe UI"/>
                        </a:rPr>
                        <a:t>PDF</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Layout</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Cloud layout model</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Markdown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411480">
                <a:tc>
                  <a:txBody>
                    <a:bodyPr lIns="146160" anchor="ctr">
                      <a:noAutofit/>
                    </a:bodyPr>
                    <a:p>
                      <a:pPr defTabSz="457200">
                        <a:lnSpc>
                          <a:spcPct val="112000"/>
                        </a:lnSpc>
                      </a:pPr>
                      <a:r>
                        <a:rPr b="1" lang="en-US" sz="1250" spc="-1" strike="noStrike">
                          <a:solidFill>
                            <a:srgbClr val="0f172a"/>
                          </a:solidFill>
                          <a:latin typeface="Segoe UI"/>
                        </a:rPr>
                        <a:t>DOCX</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Layout</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Cloud layout model</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Markdown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411480">
                <a:tc>
                  <a:txBody>
                    <a:bodyPr lIns="146160" anchor="ctr">
                      <a:noAutofit/>
                    </a:bodyPr>
                    <a:p>
                      <a:pPr defTabSz="457200">
                        <a:lnSpc>
                          <a:spcPct val="112000"/>
                        </a:lnSpc>
                      </a:pPr>
                      <a:r>
                        <a:rPr b="1" lang="en-US" sz="1250" spc="-1" strike="noStrike">
                          <a:solidFill>
                            <a:srgbClr val="0f172a"/>
                          </a:solidFill>
                          <a:latin typeface="Segoe UI"/>
                        </a:rPr>
                        <a:t>PPTX</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Layout</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Cloud layout model</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Markdown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411480">
                <a:tc>
                  <a:txBody>
                    <a:bodyPr lIns="146160" anchor="ctr">
                      <a:noAutofit/>
                    </a:bodyPr>
                    <a:p>
                      <a:pPr defTabSz="457200">
                        <a:lnSpc>
                          <a:spcPct val="112000"/>
                        </a:lnSpc>
                      </a:pPr>
                      <a:r>
                        <a:rPr b="1" lang="en-US" sz="1250" spc="-1" strike="noStrike">
                          <a:solidFill>
                            <a:srgbClr val="0f172a"/>
                          </a:solidFill>
                          <a:latin typeface="Segoe UI"/>
                        </a:rPr>
                        <a:t>HTML</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Layout</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Cloud layout model</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Markdown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r h="411480">
                <a:tc>
                  <a:txBody>
                    <a:bodyPr lIns="146160" anchor="ctr">
                      <a:noAutofit/>
                    </a:bodyPr>
                    <a:p>
                      <a:pPr defTabSz="457200">
                        <a:lnSpc>
                          <a:spcPct val="112000"/>
                        </a:lnSpc>
                      </a:pPr>
                      <a:r>
                        <a:rPr b="1" lang="en-US" sz="1250" spc="-1" strike="noStrike">
                          <a:solidFill>
                            <a:srgbClr val="0f172a"/>
                          </a:solidFill>
                          <a:latin typeface="Segoe UI"/>
                        </a:rPr>
                        <a:t>XLSX</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Spreadsheet</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OpenXML SDK, in-process</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c>
                  <a:txBody>
                    <a:bodyPr lIns="146160" anchor="ctr">
                      <a:noAutofit/>
                    </a:bodyPr>
                    <a:p>
                      <a:pPr defTabSz="457200">
                        <a:lnSpc>
                          <a:spcPct val="112000"/>
                        </a:lnSpc>
                      </a:pPr>
                      <a:r>
                        <a:rPr b="0" lang="en-US" sz="1250" spc="-1" strike="noStrike">
                          <a:solidFill>
                            <a:srgbClr val="0f172a"/>
                          </a:solidFill>
                          <a:latin typeface="Segoe UI"/>
                        </a:rPr>
                        <a:t>Typed rows + Markdown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fffff"/>
                    </a:solidFill>
                  </a:tcPr>
                </a:tc>
              </a:tr>
              <a:tr h="411480">
                <a:tc>
                  <a:txBody>
                    <a:bodyPr lIns="146160" anchor="ctr">
                      <a:noAutofit/>
                    </a:bodyPr>
                    <a:p>
                      <a:pPr defTabSz="457200">
                        <a:lnSpc>
                          <a:spcPct val="112000"/>
                        </a:lnSpc>
                      </a:pPr>
                      <a:r>
                        <a:rPr b="1" lang="en-US" sz="1250" spc="-1" strike="noStrike">
                          <a:solidFill>
                            <a:srgbClr val="0f172a"/>
                          </a:solidFill>
                          <a:latin typeface="Segoe UI"/>
                        </a:rPr>
                        <a:t>JPG / PNG</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Vision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Multimodal chat model</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c>
                  <a:txBody>
                    <a:bodyPr lIns="146160" anchor="ctr">
                      <a:noAutofit/>
                    </a:bodyPr>
                    <a:p>
                      <a:pPr defTabSz="457200">
                        <a:lnSpc>
                          <a:spcPct val="112000"/>
                        </a:lnSpc>
                      </a:pPr>
                      <a:r>
                        <a:rPr b="0" lang="en-US" sz="1250" spc="-1" strike="noStrike">
                          <a:solidFill>
                            <a:srgbClr val="0f172a"/>
                          </a:solidFill>
                          <a:latin typeface="Segoe UI"/>
                        </a:rPr>
                        <a:t>Factual description</a:t>
                      </a:r>
                      <a:endParaRPr b="0" lang="en-US" sz="1250" spc="-1" strike="noStrike">
                        <a:solidFill>
                          <a:srgbClr val="000000"/>
                        </a:solidFill>
                        <a:latin typeface="Arial"/>
                      </a:endParaRPr>
                    </a:p>
                  </a:txBody>
                  <a:tcPr anchor="ctr" marL="146160" marR="91440">
                    <a:lnL w="12240">
                      <a:noFill/>
                      <a:prstDash val="solid"/>
                    </a:lnL>
                    <a:lnR w="12240">
                      <a:noFill/>
                      <a:prstDash val="solid"/>
                    </a:lnR>
                    <a:lnT w="12240">
                      <a:noFill/>
                      <a:prstDash val="solid"/>
                    </a:lnT>
                    <a:lnB w="12240">
                      <a:noFill/>
                      <a:prstDash val="solid"/>
                    </a:lnB>
                    <a:solidFill>
                      <a:srgbClr val="f1f5f9"/>
                    </a:solidFill>
                  </a:tcPr>
                </a:tc>
              </a:tr>
            </a:tbl>
          </a:graphicData>
        </a:graphic>
      </p:graphicFrame>
      <p:sp>
        <p:nvSpPr>
          <p:cNvPr id="319" name="Rectangle 8"/>
          <p:cNvSpPr/>
          <p:nvPr/>
        </p:nvSpPr>
        <p:spPr>
          <a:xfrm>
            <a:off x="777240" y="5516640"/>
            <a:ext cx="10636560" cy="1112400"/>
          </a:xfrm>
          <a:prstGeom prst="rect">
            <a:avLst/>
          </a:prstGeom>
          <a:solidFill>
            <a:srgbClr val="f1f5f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0" name="TextBox 9"/>
          <p:cNvSpPr/>
          <p:nvPr/>
        </p:nvSpPr>
        <p:spPr>
          <a:xfrm>
            <a:off x="1097280" y="5672160"/>
            <a:ext cx="9996480" cy="74160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1" lang="en-US" sz="1250" spc="-1" strike="noStrike">
                <a:solidFill>
                  <a:srgbClr val="0f172a"/>
                </a:solidFill>
                <a:latin typeface="Segoe UI"/>
              </a:rPr>
              <a:t>Note the asymmetry. </a:t>
            </a:r>
            <a:r>
              <a:rPr b="0" lang="en-US" sz="1250" spc="-1" strike="noStrike">
                <a:solidFill>
                  <a:srgbClr val="64748b"/>
                </a:solidFill>
                <a:latin typeface="Segoe UI"/>
              </a:rPr>
              <a:t>Four of the six kinds share one engine, because a layout model already solves them all. Spreadsheets get their own because numeric fidelity is the whole point. Images get their own because there is nothing to extract — only something to observe.</a:t>
            </a:r>
            <a:endParaRPr b="0" lang="en-US" sz="1250" spc="-1" strike="noStrike">
              <a:solidFill>
                <a:srgbClr val="000000"/>
              </a:solidFill>
              <a:latin typeface="Arial"/>
            </a:endParaRPr>
          </a:p>
        </p:txBody>
      </p:sp>
      <p:sp>
        <p:nvSpPr>
          <p:cNvPr id="321" name="TextBox 10"/>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14</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3" name="Rectangle 2"/>
          <p:cNvSpPr/>
          <p:nvPr/>
        </p:nvSpPr>
        <p:spPr>
          <a:xfrm>
            <a:off x="777240" y="567000"/>
            <a:ext cx="49680" cy="2736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4"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1d4ed8"/>
                </a:solidFill>
                <a:latin typeface="Segoe UI"/>
              </a:rPr>
              <a:t>ENGINE 1 OF 3</a:t>
            </a:r>
            <a:endParaRPr b="0" lang="en-US" sz="1150" spc="-1" strike="noStrike">
              <a:solidFill>
                <a:srgbClr val="000000"/>
              </a:solidFill>
              <a:latin typeface="Arial"/>
            </a:endParaRPr>
          </a:p>
        </p:txBody>
      </p:sp>
      <p:sp>
        <p:nvSpPr>
          <p:cNvPr id="325"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PDF, DOCX, PPTX and HTML</a:t>
            </a:r>
            <a:endParaRPr b="0" lang="en-US" sz="3000" spc="-1" strike="noStrike">
              <a:solidFill>
                <a:srgbClr val="000000"/>
              </a:solidFill>
              <a:latin typeface="Arial"/>
            </a:endParaRPr>
          </a:p>
        </p:txBody>
      </p:sp>
      <p:sp>
        <p:nvSpPr>
          <p:cNvPr id="326"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A cloud document-layout model — Azure AI Document Intelligence — returning Markdown.</a:t>
            </a:r>
            <a:endParaRPr b="0" lang="en-US" sz="1450" spc="-1" strike="noStrike">
              <a:solidFill>
                <a:srgbClr val="000000"/>
              </a:solidFill>
              <a:latin typeface="Arial"/>
            </a:endParaRPr>
          </a:p>
        </p:txBody>
      </p:sp>
      <p:sp>
        <p:nvSpPr>
          <p:cNvPr id="327"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28" name="Rectangle 7"/>
          <p:cNvSpPr/>
          <p:nvPr/>
        </p:nvSpPr>
        <p:spPr>
          <a:xfrm>
            <a:off x="777240" y="241560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29" name="TextBox 8"/>
          <p:cNvSpPr/>
          <p:nvPr/>
        </p:nvSpPr>
        <p:spPr>
          <a:xfrm>
            <a:off x="1069920" y="235296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Markdown comes from the model. </a:t>
            </a:r>
            <a:r>
              <a:rPr b="0" lang="en-US" sz="1350" spc="-1" strike="noStrike">
                <a:solidFill>
                  <a:srgbClr val="64748b"/>
                </a:solidFill>
                <a:latin typeface="Segoe UI"/>
              </a:rPr>
              <a:t>Headings, lists and tables arrive as structure.</a:t>
            </a:r>
            <a:endParaRPr b="0" lang="en-US" sz="1350" spc="-1" strike="noStrike">
              <a:solidFill>
                <a:srgbClr val="000000"/>
              </a:solidFill>
              <a:latin typeface="Arial"/>
            </a:endParaRPr>
          </a:p>
        </p:txBody>
      </p:sp>
      <p:sp>
        <p:nvSpPr>
          <p:cNvPr id="330" name="Rectangle 9"/>
          <p:cNvSpPr/>
          <p:nvPr/>
        </p:nvSpPr>
        <p:spPr>
          <a:xfrm>
            <a:off x="777240" y="316692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31" name="TextBox 10"/>
          <p:cNvSpPr/>
          <p:nvPr/>
        </p:nvSpPr>
        <p:spPr>
          <a:xfrm>
            <a:off x="1069920" y="310428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Scanned and digital PDFs share one path. </a:t>
            </a:r>
            <a:r>
              <a:rPr b="0" lang="en-US" sz="1350" spc="-1" strike="noStrike">
                <a:solidFill>
                  <a:srgbClr val="64748b"/>
                </a:solidFill>
                <a:latin typeface="Segoe UI"/>
              </a:rPr>
              <a:t>OCR is part of the model, so there is no separate branch to choose between.</a:t>
            </a:r>
            <a:endParaRPr b="0" lang="en-US" sz="1350" spc="-1" strike="noStrike">
              <a:solidFill>
                <a:srgbClr val="000000"/>
              </a:solidFill>
              <a:latin typeface="Arial"/>
            </a:endParaRPr>
          </a:p>
        </p:txBody>
      </p:sp>
      <p:sp>
        <p:nvSpPr>
          <p:cNvPr id="332" name="Rectangle 11"/>
          <p:cNvSpPr/>
          <p:nvPr/>
        </p:nvSpPr>
        <p:spPr>
          <a:xfrm>
            <a:off x="777240" y="391824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33" name="TextBox 12"/>
          <p:cNvSpPr/>
          <p:nvPr/>
        </p:nvSpPr>
        <p:spPr>
          <a:xfrm>
            <a:off x="1069920" y="385560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Four formats, no format-specific code. </a:t>
            </a:r>
            <a:r>
              <a:rPr b="0" lang="en-US" sz="1350" spc="-1" strike="noStrike">
                <a:solidFill>
                  <a:srgbClr val="64748b"/>
                </a:solidFill>
                <a:latin typeface="Segoe UI"/>
              </a:rPr>
              <a:t>DOCX, PPTX and HTML use the same call as PDF.</a:t>
            </a:r>
            <a:endParaRPr b="0" lang="en-US" sz="1350" spc="-1" strike="noStrike">
              <a:solidFill>
                <a:srgbClr val="000000"/>
              </a:solidFill>
              <a:latin typeface="Arial"/>
            </a:endParaRPr>
          </a:p>
        </p:txBody>
      </p:sp>
      <p:sp>
        <p:nvSpPr>
          <p:cNvPr id="334" name="Rectangle 13"/>
          <p:cNvSpPr/>
          <p:nvPr/>
        </p:nvSpPr>
        <p:spPr>
          <a:xfrm>
            <a:off x="777240" y="466992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35" name="TextBox 14"/>
          <p:cNvSpPr/>
          <p:nvPr/>
        </p:nvSpPr>
        <p:spPr>
          <a:xfrm>
            <a:off x="1069920" y="460692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Model warnings surface per file. </a:t>
            </a:r>
            <a:r>
              <a:rPr b="0" lang="en-US" sz="1350" spc="-1" strike="noStrike">
                <a:solidFill>
                  <a:srgbClr val="64748b"/>
                </a:solidFill>
                <a:latin typeface="Segoe UI"/>
              </a:rPr>
              <a:t>Anything reported as degraded is passed through rather than quietly discarded.</a:t>
            </a:r>
            <a:endParaRPr b="0" lang="en-US" sz="1350" spc="-1" strike="noStrike">
              <a:solidFill>
                <a:srgbClr val="000000"/>
              </a:solidFill>
              <a:latin typeface="Arial"/>
            </a:endParaRPr>
          </a:p>
        </p:txBody>
      </p:sp>
      <p:sp>
        <p:nvSpPr>
          <p:cNvPr id="336" name="Rectangle 15"/>
          <p:cNvSpPr/>
          <p:nvPr/>
        </p:nvSpPr>
        <p:spPr>
          <a:xfrm>
            <a:off x="777240" y="5421240"/>
            <a:ext cx="68040" cy="6804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37" name="TextBox 16"/>
          <p:cNvSpPr/>
          <p:nvPr/>
        </p:nvSpPr>
        <p:spPr>
          <a:xfrm>
            <a:off x="1069920" y="535824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A rejection maps to one file. </a:t>
            </a:r>
            <a:r>
              <a:rPr b="0" lang="en-US" sz="1350" spc="-1" strike="noStrike">
                <a:solidFill>
                  <a:srgbClr val="64748b"/>
                </a:solidFill>
                <a:latin typeface="Segoe UI"/>
              </a:rPr>
              <a:t>An unreadable document becomes a corrupt error on that file alone.</a:t>
            </a:r>
            <a:endParaRPr b="0" lang="en-US" sz="1350" spc="-1" strike="noStrike">
              <a:solidFill>
                <a:srgbClr val="000000"/>
              </a:solidFill>
              <a:latin typeface="Arial"/>
            </a:endParaRPr>
          </a:p>
        </p:txBody>
      </p:sp>
      <p:sp>
        <p:nvSpPr>
          <p:cNvPr id="338" name="Rectangle 17"/>
          <p:cNvSpPr/>
          <p:nvPr/>
        </p:nvSpPr>
        <p:spPr>
          <a:xfrm>
            <a:off x="7635240" y="3886200"/>
            <a:ext cx="3775680" cy="120924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9" name="Rectangle 18"/>
          <p:cNvSpPr/>
          <p:nvPr/>
        </p:nvSpPr>
        <p:spPr>
          <a:xfrm>
            <a:off x="7635240" y="3836160"/>
            <a:ext cx="3775680" cy="4968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40" name="TextBox 21"/>
          <p:cNvSpPr/>
          <p:nvPr/>
        </p:nvSpPr>
        <p:spPr>
          <a:xfrm>
            <a:off x="7891200" y="3998880"/>
            <a:ext cx="3263760" cy="97092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700"/>
              </a:spcAft>
            </a:pPr>
            <a:r>
              <a:rPr b="1" lang="en-US" sz="1250" spc="-1" strike="noStrike">
                <a:solidFill>
                  <a:srgbClr val="0f172a"/>
                </a:solidFill>
                <a:latin typeface="Segoe UI"/>
              </a:rPr>
              <a:t>The trade-off</a:t>
            </a:r>
            <a:endParaRPr b="0" lang="en-US" sz="1250" spc="-1" strike="noStrike">
              <a:solidFill>
                <a:srgbClr val="000000"/>
              </a:solidFill>
              <a:latin typeface="Arial"/>
            </a:endParaRPr>
          </a:p>
          <a:p>
            <a:pPr defTabSz="457200">
              <a:lnSpc>
                <a:spcPct val="128000"/>
              </a:lnSpc>
            </a:pPr>
            <a:r>
              <a:rPr b="0" lang="en-US" sz="1150" spc="-1" strike="noStrike">
                <a:solidFill>
                  <a:srgbClr val="64748b"/>
                </a:solidFill>
                <a:latin typeface="Segoe UI"/>
              </a:rPr>
              <a:t>This path is a network call: it dominates latency and it is why the per-file timeout exists. It is also the only path with a per-page cost.</a:t>
            </a:r>
            <a:endParaRPr b="0" lang="en-US" sz="1150" spc="-1" strike="noStrike">
              <a:solidFill>
                <a:srgbClr val="000000"/>
              </a:solidFill>
              <a:latin typeface="Arial"/>
            </a:endParaRPr>
          </a:p>
        </p:txBody>
      </p:sp>
      <p:sp>
        <p:nvSpPr>
          <p:cNvPr id="341" name="TextBox 22"/>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15</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3" name="Rectangle 2"/>
          <p:cNvSpPr/>
          <p:nvPr/>
        </p:nvSpPr>
        <p:spPr>
          <a:xfrm>
            <a:off x="777240" y="567000"/>
            <a:ext cx="49680" cy="27360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4"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0f766e"/>
                </a:solidFill>
                <a:latin typeface="Segoe UI"/>
              </a:rPr>
              <a:t>ENGINE 2 OF 3</a:t>
            </a:r>
            <a:endParaRPr b="0" lang="en-US" sz="1150" spc="-1" strike="noStrike">
              <a:solidFill>
                <a:srgbClr val="000000"/>
              </a:solidFill>
              <a:latin typeface="Arial"/>
            </a:endParaRPr>
          </a:p>
        </p:txBody>
      </p:sp>
      <p:sp>
        <p:nvSpPr>
          <p:cNvPr id="345"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XLSX — the deliberate precision path</a:t>
            </a:r>
            <a:endParaRPr b="0" lang="en-US" sz="3000" spc="-1" strike="noStrike">
              <a:solidFill>
                <a:srgbClr val="000000"/>
              </a:solidFill>
              <a:latin typeface="Arial"/>
            </a:endParaRPr>
          </a:p>
        </p:txBody>
      </p:sp>
      <p:sp>
        <p:nvSpPr>
          <p:cNvPr id="346"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Read in-process with the OpenXML SDK. No cloud call, no OCR, no rendering — the workbook XML is read directly.</a:t>
            </a:r>
            <a:endParaRPr b="0" lang="en-US" sz="1450" spc="-1" strike="noStrike">
              <a:solidFill>
                <a:srgbClr val="000000"/>
              </a:solidFill>
              <a:latin typeface="Arial"/>
            </a:endParaRPr>
          </a:p>
        </p:txBody>
      </p:sp>
      <p:sp>
        <p:nvSpPr>
          <p:cNvPr id="347"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48" name="Rectangle 7"/>
          <p:cNvSpPr/>
          <p:nvPr/>
        </p:nvSpPr>
        <p:spPr>
          <a:xfrm>
            <a:off x="777240" y="2415600"/>
            <a:ext cx="68040" cy="6804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49" name="TextBox 8"/>
          <p:cNvSpPr/>
          <p:nvPr/>
        </p:nvSpPr>
        <p:spPr>
          <a:xfrm>
            <a:off x="1069920" y="235296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The stored value, never the displayed one. </a:t>
            </a:r>
            <a:r>
              <a:rPr b="0" lang="en-US" sz="1350" spc="-1" strike="noStrike">
                <a:solidFill>
                  <a:srgbClr val="64748b"/>
                </a:solidFill>
                <a:latin typeface="Segoe UI"/>
              </a:rPr>
              <a:t>Values come from the file's own XML, so display formatting cannot corrupt them.</a:t>
            </a:r>
            <a:endParaRPr b="0" lang="en-US" sz="1350" spc="-1" strike="noStrike">
              <a:solidFill>
                <a:srgbClr val="000000"/>
              </a:solidFill>
              <a:latin typeface="Arial"/>
            </a:endParaRPr>
          </a:p>
        </p:txBody>
      </p:sp>
      <p:sp>
        <p:nvSpPr>
          <p:cNvPr id="350" name="Rectangle 9"/>
          <p:cNvSpPr/>
          <p:nvPr/>
        </p:nvSpPr>
        <p:spPr>
          <a:xfrm>
            <a:off x="777240" y="3166920"/>
            <a:ext cx="68040" cy="6804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51" name="TextBox 10"/>
          <p:cNvSpPr/>
          <p:nvPr/>
        </p:nvSpPr>
        <p:spPr>
          <a:xfrm>
            <a:off x="1069920" y="310428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Types are preserved. </a:t>
            </a:r>
            <a:r>
              <a:rPr b="0" lang="en-US" sz="1350" spc="-1" strike="noStrike">
                <a:solidFill>
                  <a:srgbClr val="64748b"/>
                </a:solidFill>
                <a:latin typeface="Segoe UI"/>
              </a:rPr>
              <a:t>Numbers become decimals, booleans stay booleans, date styles convert to ISO-8601, shared strings resolve to text.</a:t>
            </a:r>
            <a:endParaRPr b="0" lang="en-US" sz="1350" spc="-1" strike="noStrike">
              <a:solidFill>
                <a:srgbClr val="000000"/>
              </a:solidFill>
              <a:latin typeface="Arial"/>
            </a:endParaRPr>
          </a:p>
        </p:txBody>
      </p:sp>
      <p:sp>
        <p:nvSpPr>
          <p:cNvPr id="352" name="Rectangle 11"/>
          <p:cNvSpPr/>
          <p:nvPr/>
        </p:nvSpPr>
        <p:spPr>
          <a:xfrm>
            <a:off x="777240" y="3918240"/>
            <a:ext cx="68040" cy="6804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53" name="TextBox 12"/>
          <p:cNvSpPr/>
          <p:nvPr/>
        </p:nvSpPr>
        <p:spPr>
          <a:xfrm>
            <a:off x="1069920" y="385560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Formulas return the cached result. </a:t>
            </a:r>
            <a:r>
              <a:rPr b="0" lang="en-US" sz="1350" spc="-1" strike="noStrike">
                <a:solidFill>
                  <a:srgbClr val="64748b"/>
                </a:solidFill>
                <a:latin typeface="Segoe UI"/>
              </a:rPr>
              <a:t>The value last computed, not the formula text. A missing one degrades to null plus a warning.</a:t>
            </a:r>
            <a:endParaRPr b="0" lang="en-US" sz="1350" spc="-1" strike="noStrike">
              <a:solidFill>
                <a:srgbClr val="000000"/>
              </a:solidFill>
              <a:latin typeface="Arial"/>
            </a:endParaRPr>
          </a:p>
        </p:txBody>
      </p:sp>
      <p:sp>
        <p:nvSpPr>
          <p:cNvPr id="354" name="Rectangle 13"/>
          <p:cNvSpPr/>
          <p:nvPr/>
        </p:nvSpPr>
        <p:spPr>
          <a:xfrm>
            <a:off x="777240" y="4669920"/>
            <a:ext cx="68040" cy="6804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55" name="TextBox 14"/>
          <p:cNvSpPr/>
          <p:nvPr/>
        </p:nvSpPr>
        <p:spPr>
          <a:xfrm>
            <a:off x="1069920" y="460692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Both shapes, every sheet. </a:t>
            </a:r>
            <a:r>
              <a:rPr b="0" lang="en-US" sz="1350" spc="-1" strike="noStrike">
                <a:solidFill>
                  <a:srgbClr val="64748b"/>
                </a:solidFill>
                <a:latin typeface="Segoe UI"/>
              </a:rPr>
              <a:t>Typed rows for computation, plus a Markdown rendering of the same grid for reading.</a:t>
            </a:r>
            <a:endParaRPr b="0" lang="en-US" sz="1350" spc="-1" strike="noStrike">
              <a:solidFill>
                <a:srgbClr val="000000"/>
              </a:solidFill>
              <a:latin typeface="Arial"/>
            </a:endParaRPr>
          </a:p>
        </p:txBody>
      </p:sp>
      <p:sp>
        <p:nvSpPr>
          <p:cNvPr id="356" name="Rectangle 15"/>
          <p:cNvSpPr/>
          <p:nvPr/>
        </p:nvSpPr>
        <p:spPr>
          <a:xfrm>
            <a:off x="777240" y="5421240"/>
            <a:ext cx="68040" cy="6804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57" name="TextBox 16"/>
          <p:cNvSpPr/>
          <p:nvPr/>
        </p:nvSpPr>
        <p:spPr>
          <a:xfrm>
            <a:off x="1069920" y="5358240"/>
            <a:ext cx="615312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Degrade, never fail. </a:t>
            </a:r>
            <a:r>
              <a:rPr b="0" lang="en-US" sz="1350" spc="-1" strike="noStrike">
                <a:solidFill>
                  <a:srgbClr val="64748b"/>
                </a:solidFill>
                <a:latin typeface="Segoe UI"/>
              </a:rPr>
              <a:t>An unparseable cell falls back to raw text with a warning; the rest of the workbook survives.</a:t>
            </a:r>
            <a:endParaRPr b="0" lang="en-US" sz="1350" spc="-1" strike="noStrike">
              <a:solidFill>
                <a:srgbClr val="000000"/>
              </a:solidFill>
              <a:latin typeface="Arial"/>
            </a:endParaRPr>
          </a:p>
        </p:txBody>
      </p:sp>
      <p:sp>
        <p:nvSpPr>
          <p:cNvPr id="358" name="Rectangle 17"/>
          <p:cNvSpPr/>
          <p:nvPr/>
        </p:nvSpPr>
        <p:spPr>
          <a:xfrm>
            <a:off x="7635240" y="2307240"/>
            <a:ext cx="3775680" cy="3218040"/>
          </a:xfrm>
          <a:prstGeom prst="rect">
            <a:avLst/>
          </a:prstGeom>
          <a:solidFill>
            <a:srgbClr val="e1f2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9" name="TextBox 18"/>
          <p:cNvSpPr/>
          <p:nvPr/>
        </p:nvSpPr>
        <p:spPr>
          <a:xfrm>
            <a:off x="7891200" y="2517480"/>
            <a:ext cx="3263760" cy="291492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1001"/>
              </a:spcAft>
            </a:pPr>
            <a:r>
              <a:rPr b="1" lang="en-US" sz="1350" spc="-1" strike="noStrike">
                <a:solidFill>
                  <a:srgbClr val="0f766e"/>
                </a:solidFill>
                <a:latin typeface="Segoe UI"/>
              </a:rPr>
              <a:t>Why this earns its own engine</a:t>
            </a:r>
            <a:endParaRPr b="0" lang="en-US" sz="1350" spc="-1" strike="noStrike">
              <a:solidFill>
                <a:srgbClr val="000000"/>
              </a:solidFill>
              <a:latin typeface="Arial"/>
            </a:endParaRPr>
          </a:p>
          <a:p>
            <a:pPr defTabSz="457200">
              <a:lnSpc>
                <a:spcPct val="130000"/>
              </a:lnSpc>
              <a:spcAft>
                <a:spcPts val="1100"/>
              </a:spcAft>
            </a:pPr>
            <a:r>
              <a:rPr b="0" lang="en-US" sz="1200" spc="-1" strike="noStrike">
                <a:solidFill>
                  <a:srgbClr val="0f172a"/>
                </a:solidFill>
                <a:latin typeface="Segoe UI"/>
              </a:rPr>
              <a:t>Every other path in the service produces text for a model to read. This one produces values for a model to compute with.</a:t>
            </a:r>
            <a:endParaRPr b="0" lang="en-US" sz="1200" spc="-1" strike="noStrike">
              <a:solidFill>
                <a:srgbClr val="000000"/>
              </a:solidFill>
              <a:latin typeface="Arial"/>
            </a:endParaRPr>
          </a:p>
          <a:p>
            <a:pPr defTabSz="457200">
              <a:lnSpc>
                <a:spcPct val="128000"/>
              </a:lnSpc>
              <a:spcAft>
                <a:spcPts val="1100"/>
              </a:spcAft>
            </a:pPr>
            <a:r>
              <a:rPr b="0" lang="en-US" sz="1150" spc="-1" strike="noStrike">
                <a:solidFill>
                  <a:srgbClr val="64748b"/>
                </a:solidFill>
                <a:latin typeface="Segoe UI"/>
              </a:rPr>
              <a:t>Send a workbook through a layout model instead and the numbers arrive as whatever the author's locale rendered them as. The agent then has to guess — and a wrong guess produces a confident, wrong total.</a:t>
            </a:r>
            <a:endParaRPr b="0" lang="en-US" sz="1150" spc="-1" strike="noStrike">
              <a:solidFill>
                <a:srgbClr val="000000"/>
              </a:solidFill>
              <a:latin typeface="Arial"/>
            </a:endParaRPr>
          </a:p>
          <a:p>
            <a:pPr defTabSz="457200">
              <a:lnSpc>
                <a:spcPct val="128000"/>
              </a:lnSpc>
            </a:pPr>
            <a:r>
              <a:rPr b="0" i="1" lang="en-US" sz="1150" spc="-1" strike="noStrike">
                <a:solidFill>
                  <a:srgbClr val="64748b"/>
                </a:solidFill>
                <a:latin typeface="Segoe UI"/>
              </a:rPr>
              <a:t>It is also the fastest path in the service — pure in-process compute, no network round-trip.</a:t>
            </a:r>
            <a:endParaRPr b="0" lang="en-US" sz="1150" spc="-1" strike="noStrike">
              <a:solidFill>
                <a:srgbClr val="000000"/>
              </a:solidFill>
              <a:latin typeface="Arial"/>
            </a:endParaRPr>
          </a:p>
        </p:txBody>
      </p:sp>
      <p:sp>
        <p:nvSpPr>
          <p:cNvPr id="360" name="TextBox 19"/>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16</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Rectangle 1"/>
          <p:cNvSpPr/>
          <p:nvPr/>
        </p:nvSpPr>
        <p:spPr>
          <a:xfrm>
            <a:off x="36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2" name="Rectangle 2"/>
          <p:cNvSpPr/>
          <p:nvPr/>
        </p:nvSpPr>
        <p:spPr>
          <a:xfrm>
            <a:off x="777240" y="567000"/>
            <a:ext cx="49680" cy="27360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3"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6d28d9"/>
                </a:solidFill>
                <a:latin typeface="Segoe UI"/>
              </a:rPr>
              <a:t>ENGINE 3 OF 3</a:t>
            </a:r>
            <a:endParaRPr b="0" lang="en-US" sz="1150" spc="-1" strike="noStrike">
              <a:solidFill>
                <a:srgbClr val="000000"/>
              </a:solidFill>
              <a:latin typeface="Arial"/>
            </a:endParaRPr>
          </a:p>
        </p:txBody>
      </p:sp>
      <p:sp>
        <p:nvSpPr>
          <p:cNvPr id="364"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JPG and PNG — observation, not classification</a:t>
            </a:r>
            <a:endParaRPr b="0" lang="en-US" sz="3000" spc="-1" strike="noStrike">
              <a:solidFill>
                <a:srgbClr val="000000"/>
              </a:solidFill>
              <a:latin typeface="Arial"/>
            </a:endParaRPr>
          </a:p>
        </p:txBody>
      </p:sp>
      <p:sp>
        <p:nvSpPr>
          <p:cNvPr id="365" name="TextBox 5"/>
          <p:cNvSpPr/>
          <p:nvPr/>
        </p:nvSpPr>
        <p:spPr>
          <a:xfrm>
            <a:off x="692280" y="1703160"/>
            <a:ext cx="1097244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spcBef>
                <a:spcPts val="1191"/>
              </a:spcBef>
              <a:spcAft>
                <a:spcPts val="992"/>
              </a:spcAft>
            </a:pPr>
            <a:r>
              <a:rPr b="0" lang="en-US" sz="1450" spc="-1" strike="noStrike">
                <a:solidFill>
                  <a:srgbClr val="64748b"/>
                </a:solidFill>
                <a:latin typeface="Segoe UI"/>
              </a:rPr>
              <a:t>A single call to a multimodal chat model (gpt-5.4-mini), with the image passed inline and the system prompt pinned in source.</a:t>
            </a:r>
            <a:endParaRPr b="0" lang="en-US" sz="1450" spc="-1" strike="noStrike">
              <a:solidFill>
                <a:srgbClr val="000000"/>
              </a:solidFill>
              <a:latin typeface="Arial"/>
            </a:endParaRPr>
          </a:p>
        </p:txBody>
      </p:sp>
      <p:sp>
        <p:nvSpPr>
          <p:cNvPr id="366"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67" name="Rectangle 7"/>
          <p:cNvSpPr/>
          <p:nvPr/>
        </p:nvSpPr>
        <p:spPr>
          <a:xfrm>
            <a:off x="777240" y="2415600"/>
            <a:ext cx="68040" cy="6804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68" name="TextBox 8"/>
          <p:cNvSpPr/>
          <p:nvPr/>
        </p:nvSpPr>
        <p:spPr>
          <a:xfrm>
            <a:off x="1069920" y="2352960"/>
            <a:ext cx="597024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One call, image inline. </a:t>
            </a:r>
            <a:r>
              <a:rPr b="0" lang="en-US" sz="1350" spc="-1" strike="noStrike">
                <a:solidFill>
                  <a:srgbClr val="64748b"/>
                </a:solidFill>
                <a:latin typeface="Segoe UI"/>
              </a:rPr>
              <a:t>Sent as a data URI content part alongside the prompt — no upload step, no intermediate storage.</a:t>
            </a:r>
            <a:endParaRPr b="0" lang="en-US" sz="1350" spc="-1" strike="noStrike">
              <a:solidFill>
                <a:srgbClr val="000000"/>
              </a:solidFill>
              <a:latin typeface="Arial"/>
            </a:endParaRPr>
          </a:p>
        </p:txBody>
      </p:sp>
      <p:sp>
        <p:nvSpPr>
          <p:cNvPr id="369" name="Rectangle 9"/>
          <p:cNvSpPr/>
          <p:nvPr/>
        </p:nvSpPr>
        <p:spPr>
          <a:xfrm>
            <a:off x="777240" y="3205080"/>
            <a:ext cx="68040" cy="6804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70" name="TextBox 10"/>
          <p:cNvSpPr/>
          <p:nvPr/>
        </p:nvSpPr>
        <p:spPr>
          <a:xfrm>
            <a:off x="1069920" y="3142440"/>
            <a:ext cx="597024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The prompt is a code constant. </a:t>
            </a:r>
            <a:r>
              <a:rPr b="0" lang="en-US" sz="1350" spc="-1" strike="noStrike">
                <a:solidFill>
                  <a:srgbClr val="64748b"/>
                </a:solidFill>
                <a:latin typeface="Segoe UI"/>
              </a:rPr>
              <a:t>It cannot drift between environments, and a snapshot test makes any change to it visible.</a:t>
            </a:r>
            <a:endParaRPr b="0" lang="en-US" sz="1350" spc="-1" strike="noStrike">
              <a:solidFill>
                <a:srgbClr val="000000"/>
              </a:solidFill>
              <a:latin typeface="Arial"/>
            </a:endParaRPr>
          </a:p>
        </p:txBody>
      </p:sp>
      <p:sp>
        <p:nvSpPr>
          <p:cNvPr id="371" name="Rectangle 11"/>
          <p:cNvSpPr/>
          <p:nvPr/>
        </p:nvSpPr>
        <p:spPr>
          <a:xfrm>
            <a:off x="777240" y="3994560"/>
            <a:ext cx="68040" cy="6804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72" name="TextBox 12"/>
          <p:cNvSpPr/>
          <p:nvPr/>
        </p:nvSpPr>
        <p:spPr>
          <a:xfrm>
            <a:off x="1069920" y="3931920"/>
            <a:ext cx="597024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Only what is directly visible. </a:t>
            </a:r>
            <a:r>
              <a:rPr b="0" lang="en-US" sz="1350" spc="-1" strike="noStrike">
                <a:solidFill>
                  <a:srgbClr val="64748b"/>
                </a:solidFill>
                <a:latin typeface="Segoe UI"/>
              </a:rPr>
              <a:t>Objects, text, markings, labels, materials, colours — transcribed exactly as printed.</a:t>
            </a:r>
            <a:endParaRPr b="0" lang="en-US" sz="1350" spc="-1" strike="noStrike">
              <a:solidFill>
                <a:srgbClr val="000000"/>
              </a:solidFill>
              <a:latin typeface="Arial"/>
            </a:endParaRPr>
          </a:p>
        </p:txBody>
      </p:sp>
      <p:sp>
        <p:nvSpPr>
          <p:cNvPr id="373" name="Rectangle 13"/>
          <p:cNvSpPr/>
          <p:nvPr/>
        </p:nvSpPr>
        <p:spPr>
          <a:xfrm>
            <a:off x="777240" y="4784040"/>
            <a:ext cx="68040" cy="6804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3760" bIns="23760" anchor="ctr">
            <a:noAutofit/>
          </a:bodyPr>
          <a:p>
            <a:pPr algn="ctr" defTabSz="457200">
              <a:lnSpc>
                <a:spcPct val="100000"/>
              </a:lnSpc>
            </a:pPr>
            <a:endParaRPr b="0" lang="en-US" sz="1800" spc="-1" strike="noStrike">
              <a:solidFill>
                <a:schemeClr val="lt1"/>
              </a:solidFill>
              <a:latin typeface="Calibri"/>
            </a:endParaRPr>
          </a:p>
        </p:txBody>
      </p:sp>
      <p:sp>
        <p:nvSpPr>
          <p:cNvPr id="374" name="TextBox 14"/>
          <p:cNvSpPr/>
          <p:nvPr/>
        </p:nvSpPr>
        <p:spPr>
          <a:xfrm>
            <a:off x="1069920" y="4721400"/>
            <a:ext cx="5970240" cy="525600"/>
          </a:xfrm>
          <a:prstGeom prst="rect">
            <a:avLst/>
          </a:prstGeom>
          <a:noFill/>
          <a:ln w="0">
            <a:noFill/>
          </a:ln>
        </p:spPr>
        <p:style>
          <a:lnRef idx="0"/>
          <a:fillRef idx="0"/>
          <a:effectRef idx="0"/>
          <a:fontRef idx="minor"/>
        </p:style>
        <p:txBody>
          <a:bodyPr lIns="0" rIns="0" tIns="0" bIns="0" anchor="t">
            <a:spAutoFit/>
          </a:bodyPr>
          <a:p>
            <a:pPr defTabSz="457200">
              <a:lnSpc>
                <a:spcPct val="128000"/>
              </a:lnSpc>
            </a:pPr>
            <a:r>
              <a:rPr b="1" lang="en-US" sz="1350" spc="-1" strike="noStrike">
                <a:solidFill>
                  <a:srgbClr val="0f172a"/>
                </a:solidFill>
                <a:latin typeface="Segoe UI"/>
              </a:rPr>
              <a:t>Explicitly forbidden from judging. </a:t>
            </a:r>
            <a:r>
              <a:rPr b="0" lang="en-US" sz="1350" spc="-1" strike="noStrike">
                <a:solidFill>
                  <a:srgbClr val="64748b"/>
                </a:solidFill>
                <a:latin typeface="Segoe UI"/>
              </a:rPr>
              <a:t>No categories, no inferred purpose, nothing that is not visible in the frame.</a:t>
            </a:r>
            <a:endParaRPr b="0" lang="en-US" sz="1350" spc="-1" strike="noStrike">
              <a:solidFill>
                <a:srgbClr val="000000"/>
              </a:solidFill>
              <a:latin typeface="Arial"/>
            </a:endParaRPr>
          </a:p>
        </p:txBody>
      </p:sp>
      <p:sp>
        <p:nvSpPr>
          <p:cNvPr id="375" name="Rectangle 15"/>
          <p:cNvSpPr/>
          <p:nvPr/>
        </p:nvSpPr>
        <p:spPr>
          <a:xfrm>
            <a:off x="7452360" y="2307240"/>
            <a:ext cx="3958560" cy="1807200"/>
          </a:xfrm>
          <a:prstGeom prst="rect">
            <a:avLst/>
          </a:prstGeom>
          <a:solidFill>
            <a:srgbClr val="efe9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6" name="TextBox 16"/>
          <p:cNvSpPr/>
          <p:nvPr/>
        </p:nvSpPr>
        <p:spPr>
          <a:xfrm>
            <a:off x="7708320" y="2490120"/>
            <a:ext cx="3474000" cy="147960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901"/>
              </a:spcAft>
            </a:pPr>
            <a:r>
              <a:rPr b="1" lang="en-US" sz="1350" spc="-1" strike="noStrike">
                <a:solidFill>
                  <a:srgbClr val="6d28d9"/>
                </a:solidFill>
                <a:latin typeface="Segoe UI"/>
              </a:rPr>
              <a:t>The result is evidence, not a verdict</a:t>
            </a:r>
            <a:endParaRPr b="0" lang="en-US" sz="1350" spc="-1" strike="noStrike">
              <a:solidFill>
                <a:srgbClr val="000000"/>
              </a:solidFill>
              <a:latin typeface="Arial"/>
            </a:endParaRPr>
          </a:p>
          <a:p>
            <a:pPr defTabSz="457200">
              <a:lnSpc>
                <a:spcPct val="130000"/>
              </a:lnSpc>
            </a:pPr>
            <a:r>
              <a:rPr b="0" lang="en-US" sz="1150" spc="-1" strike="noStrike">
                <a:solidFill>
                  <a:srgbClr val="64748b"/>
                </a:solidFill>
                <a:latin typeface="Segoe UI"/>
              </a:rPr>
              <a:t>The agent receives a description of what is in the photograph and draws its own conclusion, with the rest of its context available. The service has no context, so it is the wrong place to conclude anything.</a:t>
            </a:r>
            <a:endParaRPr b="0" lang="en-US" sz="1150" spc="-1" strike="noStrike">
              <a:solidFill>
                <a:srgbClr val="000000"/>
              </a:solidFill>
              <a:latin typeface="Arial"/>
            </a:endParaRPr>
          </a:p>
        </p:txBody>
      </p:sp>
      <p:sp>
        <p:nvSpPr>
          <p:cNvPr id="377" name="TextBox 20"/>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17</a:t>
            </a:r>
            <a:endParaRPr b="0" lang="en-US" sz="1000" spc="-1" strike="noStrike">
              <a:solidFill>
                <a:srgbClr val="000000"/>
              </a:solidFill>
              <a:latin typeface="Arial"/>
            </a:endParaRPr>
          </a:p>
        </p:txBody>
      </p:sp>
      <p:pic>
        <p:nvPicPr>
          <p:cNvPr id="378" name="" descr=""/>
          <p:cNvPicPr/>
          <p:nvPr/>
        </p:nvPicPr>
        <p:blipFill>
          <a:blip r:embed="rId1"/>
          <a:stretch/>
        </p:blipFill>
        <p:spPr>
          <a:xfrm>
            <a:off x="685800" y="5410440"/>
            <a:ext cx="10274400" cy="12186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Rectangle 1"/>
          <p:cNvSpPr/>
          <p:nvPr/>
        </p:nvSpPr>
        <p:spPr>
          <a:xfrm>
            <a:off x="0" y="0"/>
            <a:ext cx="12191040" cy="6857280"/>
          </a:xfrm>
          <a:prstGeom prst="rect">
            <a:avLst/>
          </a:prstGeom>
          <a:solidFill>
            <a:srgbClr val="fcfd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0" name="Rectangle 2"/>
          <p:cNvSpPr/>
          <p:nvPr/>
        </p:nvSpPr>
        <p:spPr>
          <a:xfrm>
            <a:off x="777240" y="567000"/>
            <a:ext cx="49680" cy="27360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1" name="TextBox 3"/>
          <p:cNvSpPr/>
          <p:nvPr/>
        </p:nvSpPr>
        <p:spPr>
          <a:xfrm>
            <a:off x="978480" y="548640"/>
            <a:ext cx="10435320" cy="175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0f766e"/>
                </a:solidFill>
                <a:latin typeface="Segoe UI"/>
              </a:rPr>
              <a:t>RUNNING IT</a:t>
            </a:r>
            <a:endParaRPr b="0" lang="en-US" sz="1150" spc="-1" strike="noStrike">
              <a:solidFill>
                <a:srgbClr val="000000"/>
              </a:solidFill>
              <a:latin typeface="Arial"/>
            </a:endParaRPr>
          </a:p>
        </p:txBody>
      </p:sp>
      <p:sp>
        <p:nvSpPr>
          <p:cNvPr id="382" name="TextBox 4"/>
          <p:cNvSpPr/>
          <p:nvPr/>
        </p:nvSpPr>
        <p:spPr>
          <a:xfrm>
            <a:off x="777240" y="932760"/>
            <a:ext cx="10636560" cy="47988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000" spc="-1" strike="noStrike">
                <a:solidFill>
                  <a:srgbClr val="0f172a"/>
                </a:solidFill>
                <a:latin typeface="Segoe UI"/>
              </a:rPr>
              <a:t>Built to be operated</a:t>
            </a:r>
            <a:endParaRPr b="0" lang="en-US" sz="3000" spc="-1" strike="noStrike">
              <a:solidFill>
                <a:srgbClr val="000000"/>
              </a:solidFill>
              <a:latin typeface="Arial"/>
            </a:endParaRPr>
          </a:p>
        </p:txBody>
      </p:sp>
      <p:sp>
        <p:nvSpPr>
          <p:cNvPr id="383" name="TextBox 5"/>
          <p:cNvSpPr/>
          <p:nvPr/>
        </p:nvSpPr>
        <p:spPr>
          <a:xfrm>
            <a:off x="777240" y="1640160"/>
            <a:ext cx="10087920" cy="287280"/>
          </a:xfrm>
          <a:prstGeom prst="rect">
            <a:avLst/>
          </a:prstGeom>
          <a:noFill/>
          <a:ln w="0">
            <a:noFill/>
          </a:ln>
        </p:spPr>
        <p:style>
          <a:lnRef idx="0"/>
          <a:fillRef idx="0"/>
          <a:effectRef idx="0"/>
          <a:fontRef idx="minor"/>
        </p:style>
        <p:txBody>
          <a:bodyPr lIns="0" rIns="0" tIns="0" bIns="0" anchor="t">
            <a:spAutoFit/>
          </a:bodyPr>
          <a:p>
            <a:pPr defTabSz="457200">
              <a:lnSpc>
                <a:spcPct val="130000"/>
              </a:lnSpc>
            </a:pPr>
            <a:r>
              <a:rPr b="0" lang="en-US" sz="1450" spc="-1" strike="noStrike">
                <a:solidFill>
                  <a:srgbClr val="64748b"/>
                </a:solidFill>
                <a:latin typeface="Segoe UI"/>
              </a:rPr>
              <a:t>The parts that decide whether it survives contact with production.</a:t>
            </a:r>
            <a:endParaRPr b="0" lang="en-US" sz="1450" spc="-1" strike="noStrike">
              <a:solidFill>
                <a:srgbClr val="000000"/>
              </a:solidFill>
              <a:latin typeface="Arial"/>
            </a:endParaRPr>
          </a:p>
        </p:txBody>
      </p:sp>
      <p:sp>
        <p:nvSpPr>
          <p:cNvPr id="384" name="Rectangle 6"/>
          <p:cNvSpPr/>
          <p:nvPr/>
        </p:nvSpPr>
        <p:spPr>
          <a:xfrm>
            <a:off x="777240" y="2133360"/>
            <a:ext cx="10636560" cy="1008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85" name="Rectangle 7"/>
          <p:cNvSpPr/>
          <p:nvPr/>
        </p:nvSpPr>
        <p:spPr>
          <a:xfrm>
            <a:off x="777240" y="2352960"/>
            <a:ext cx="3386520" cy="1645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6" name="Rectangle 8"/>
          <p:cNvSpPr/>
          <p:nvPr/>
        </p:nvSpPr>
        <p:spPr>
          <a:xfrm>
            <a:off x="777240" y="2352960"/>
            <a:ext cx="45000" cy="16452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7" name="TextBox 9"/>
          <p:cNvSpPr/>
          <p:nvPr/>
        </p:nvSpPr>
        <p:spPr>
          <a:xfrm>
            <a:off x="1051560" y="2572200"/>
            <a:ext cx="2883600" cy="118224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350" spc="-1" strike="noStrike">
                <a:solidFill>
                  <a:srgbClr val="0f172a"/>
                </a:solidFill>
                <a:latin typeface="Segoe UI"/>
              </a:rPr>
              <a:t>Observability</a:t>
            </a:r>
            <a:endParaRPr b="0" lang="en-US" sz="1350" spc="-1" strike="noStrike">
              <a:solidFill>
                <a:srgbClr val="000000"/>
              </a:solidFill>
              <a:latin typeface="Arial"/>
            </a:endParaRPr>
          </a:p>
          <a:p>
            <a:pPr defTabSz="457200">
              <a:lnSpc>
                <a:spcPct val="126000"/>
              </a:lnSpc>
            </a:pPr>
            <a:r>
              <a:rPr b="0" lang="en-US" sz="1150" spc="-1" strike="noStrike">
                <a:solidFill>
                  <a:srgbClr val="64748b"/>
                </a:solidFill>
                <a:latin typeface="Segoe UI"/>
              </a:rPr>
              <a:t>Tracing per request and per file, plus metrics for pages, files, bytes, per-file duration as a histogram, rejected requests, duplicates and shed load.</a:t>
            </a:r>
            <a:endParaRPr b="0" lang="en-US" sz="1150" spc="-1" strike="noStrike">
              <a:solidFill>
                <a:srgbClr val="000000"/>
              </a:solidFill>
              <a:latin typeface="Arial"/>
            </a:endParaRPr>
          </a:p>
        </p:txBody>
      </p:sp>
      <p:sp>
        <p:nvSpPr>
          <p:cNvPr id="388" name="Rectangle 10"/>
          <p:cNvSpPr/>
          <p:nvPr/>
        </p:nvSpPr>
        <p:spPr>
          <a:xfrm>
            <a:off x="4402080" y="2352960"/>
            <a:ext cx="3386520" cy="1645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9" name="Rectangle 11"/>
          <p:cNvSpPr/>
          <p:nvPr/>
        </p:nvSpPr>
        <p:spPr>
          <a:xfrm>
            <a:off x="4402080" y="2352960"/>
            <a:ext cx="45000" cy="164520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0" name="TextBox 12"/>
          <p:cNvSpPr/>
          <p:nvPr/>
        </p:nvSpPr>
        <p:spPr>
          <a:xfrm>
            <a:off x="4676400" y="2572200"/>
            <a:ext cx="2883600" cy="118224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350" spc="-1" strike="noStrike">
                <a:solidFill>
                  <a:srgbClr val="0f172a"/>
                </a:solidFill>
                <a:latin typeface="Segoe UI"/>
              </a:rPr>
              <a:t>Structured logging</a:t>
            </a:r>
            <a:endParaRPr b="0" lang="en-US" sz="1350" spc="-1" strike="noStrike">
              <a:solidFill>
                <a:srgbClr val="000000"/>
              </a:solidFill>
              <a:latin typeface="Arial"/>
            </a:endParaRPr>
          </a:p>
          <a:p>
            <a:pPr defTabSz="457200">
              <a:lnSpc>
                <a:spcPct val="126000"/>
              </a:lnSpc>
            </a:pPr>
            <a:r>
              <a:rPr b="0" lang="en-US" sz="1150" spc="-1" strike="noStrike">
                <a:solidFill>
                  <a:srgbClr val="64748b"/>
                </a:solidFill>
                <a:latin typeface="Segoe UI"/>
              </a:rPr>
              <a:t>One line per file with kind, size, outcome and duration — and a redaction rule keeping document content out, verified by test.</a:t>
            </a:r>
            <a:endParaRPr b="0" lang="en-US" sz="1150" spc="-1" strike="noStrike">
              <a:solidFill>
                <a:srgbClr val="000000"/>
              </a:solidFill>
              <a:latin typeface="Arial"/>
            </a:endParaRPr>
          </a:p>
        </p:txBody>
      </p:sp>
      <p:sp>
        <p:nvSpPr>
          <p:cNvPr id="391" name="Rectangle 13"/>
          <p:cNvSpPr/>
          <p:nvPr/>
        </p:nvSpPr>
        <p:spPr>
          <a:xfrm>
            <a:off x="8027280" y="2352960"/>
            <a:ext cx="3386520" cy="1645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2" name="Rectangle 14"/>
          <p:cNvSpPr/>
          <p:nvPr/>
        </p:nvSpPr>
        <p:spPr>
          <a:xfrm>
            <a:off x="8027280" y="2352960"/>
            <a:ext cx="45000" cy="164520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3" name="TextBox 15"/>
          <p:cNvSpPr/>
          <p:nvPr/>
        </p:nvSpPr>
        <p:spPr>
          <a:xfrm>
            <a:off x="8301600" y="2572200"/>
            <a:ext cx="2883600" cy="118224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350" spc="-1" strike="noStrike">
                <a:solidFill>
                  <a:srgbClr val="0f172a"/>
                </a:solidFill>
                <a:latin typeface="Segoe UI"/>
              </a:rPr>
              <a:t>Admission control</a:t>
            </a:r>
            <a:endParaRPr b="0" lang="en-US" sz="1350" spc="-1" strike="noStrike">
              <a:solidFill>
                <a:srgbClr val="000000"/>
              </a:solidFill>
              <a:latin typeface="Arial"/>
            </a:endParaRPr>
          </a:p>
          <a:p>
            <a:pPr defTabSz="457200">
              <a:lnSpc>
                <a:spcPct val="126000"/>
              </a:lnSpc>
            </a:pPr>
            <a:r>
              <a:rPr b="0" lang="en-US" sz="1150" spc="-1" strike="noStrike">
                <a:solidFill>
                  <a:srgbClr val="64748b"/>
                </a:solidFill>
                <a:latin typeface="Segoe UI"/>
              </a:rPr>
              <a:t>An in-flight byte budget with queueing, shedding well-formed requests under sustained pressure rather than degrading every request at once.</a:t>
            </a:r>
            <a:endParaRPr b="0" lang="en-US" sz="1150" spc="-1" strike="noStrike">
              <a:solidFill>
                <a:srgbClr val="000000"/>
              </a:solidFill>
              <a:latin typeface="Arial"/>
            </a:endParaRPr>
          </a:p>
        </p:txBody>
      </p:sp>
      <p:sp>
        <p:nvSpPr>
          <p:cNvPr id="394" name="Rectangle 16"/>
          <p:cNvSpPr/>
          <p:nvPr/>
        </p:nvSpPr>
        <p:spPr>
          <a:xfrm>
            <a:off x="777240" y="4218120"/>
            <a:ext cx="3386520" cy="1645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5" name="Rectangle 17"/>
          <p:cNvSpPr/>
          <p:nvPr/>
        </p:nvSpPr>
        <p:spPr>
          <a:xfrm>
            <a:off x="777240" y="4218120"/>
            <a:ext cx="45000" cy="1645200"/>
          </a:xfrm>
          <a:prstGeom prst="rect">
            <a:avLst/>
          </a:prstGeom>
          <a:solidFill>
            <a:srgbClr val="0f76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6" name="TextBox 18"/>
          <p:cNvSpPr/>
          <p:nvPr/>
        </p:nvSpPr>
        <p:spPr>
          <a:xfrm>
            <a:off x="1051560" y="4437720"/>
            <a:ext cx="2883600" cy="118224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350" spc="-1" strike="noStrike">
                <a:solidFill>
                  <a:srgbClr val="0f172a"/>
                </a:solidFill>
                <a:latin typeface="Segoe UI"/>
              </a:rPr>
              <a:t>Health and startup probes</a:t>
            </a:r>
            <a:endParaRPr b="0" lang="en-US" sz="1350" spc="-1" strike="noStrike">
              <a:solidFill>
                <a:srgbClr val="000000"/>
              </a:solidFill>
              <a:latin typeface="Arial"/>
            </a:endParaRPr>
          </a:p>
          <a:p>
            <a:pPr defTabSz="457200">
              <a:lnSpc>
                <a:spcPct val="126000"/>
              </a:lnSpc>
            </a:pPr>
            <a:r>
              <a:rPr b="0" lang="en-US" sz="1150" spc="-1" strike="noStrike">
                <a:solidFill>
                  <a:srgbClr val="64748b"/>
                </a:solidFill>
                <a:latin typeface="Segoe UI"/>
              </a:rPr>
              <a:t>Liveness and readiness endpoints, plus startup connectivity checks against each dependency so a misconfiguration surfaces at boot.</a:t>
            </a:r>
            <a:endParaRPr b="0" lang="en-US" sz="1150" spc="-1" strike="noStrike">
              <a:solidFill>
                <a:srgbClr val="000000"/>
              </a:solidFill>
              <a:latin typeface="Arial"/>
            </a:endParaRPr>
          </a:p>
        </p:txBody>
      </p:sp>
      <p:sp>
        <p:nvSpPr>
          <p:cNvPr id="397" name="Rectangle 19"/>
          <p:cNvSpPr/>
          <p:nvPr/>
        </p:nvSpPr>
        <p:spPr>
          <a:xfrm>
            <a:off x="4402080" y="4218120"/>
            <a:ext cx="3386520" cy="1645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8" name="Rectangle 20"/>
          <p:cNvSpPr/>
          <p:nvPr/>
        </p:nvSpPr>
        <p:spPr>
          <a:xfrm>
            <a:off x="4402080" y="4218120"/>
            <a:ext cx="45000" cy="164520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9" name="TextBox 21"/>
          <p:cNvSpPr/>
          <p:nvPr/>
        </p:nvSpPr>
        <p:spPr>
          <a:xfrm>
            <a:off x="4676400" y="4437720"/>
            <a:ext cx="2883600" cy="118224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350" spc="-1" strike="noStrike">
                <a:solidFill>
                  <a:srgbClr val="0f172a"/>
                </a:solidFill>
                <a:latin typeface="Segoe UI"/>
              </a:rPr>
              <a:t>Containerised delivery</a:t>
            </a:r>
            <a:endParaRPr b="0" lang="en-US" sz="1350" spc="-1" strike="noStrike">
              <a:solidFill>
                <a:srgbClr val="000000"/>
              </a:solidFill>
              <a:latin typeface="Arial"/>
            </a:endParaRPr>
          </a:p>
          <a:p>
            <a:pPr defTabSz="457200">
              <a:lnSpc>
                <a:spcPct val="126000"/>
              </a:lnSpc>
            </a:pPr>
            <a:r>
              <a:rPr b="0" lang="en-US" sz="1150" spc="-1" strike="noStrike">
                <a:solidFill>
                  <a:srgbClr val="64748b"/>
                </a:solidFill>
                <a:latin typeface="Segoe UI"/>
              </a:rPr>
              <a:t>A minimal hardened base image, horizontal autoscaling, a read-only root filesystem, and no secrets in source or config.</a:t>
            </a:r>
            <a:endParaRPr b="0" lang="en-US" sz="1150" spc="-1" strike="noStrike">
              <a:solidFill>
                <a:srgbClr val="000000"/>
              </a:solidFill>
              <a:latin typeface="Arial"/>
            </a:endParaRPr>
          </a:p>
        </p:txBody>
      </p:sp>
      <p:sp>
        <p:nvSpPr>
          <p:cNvPr id="400" name="Rectangle 22"/>
          <p:cNvSpPr/>
          <p:nvPr/>
        </p:nvSpPr>
        <p:spPr>
          <a:xfrm>
            <a:off x="8027280" y="4218120"/>
            <a:ext cx="3386520" cy="1645200"/>
          </a:xfrm>
          <a:prstGeom prst="rect">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1" name="Rectangle 23"/>
          <p:cNvSpPr/>
          <p:nvPr/>
        </p:nvSpPr>
        <p:spPr>
          <a:xfrm>
            <a:off x="8027280" y="4218120"/>
            <a:ext cx="45000" cy="1645200"/>
          </a:xfrm>
          <a:prstGeom prst="rect">
            <a:avLst/>
          </a:prstGeom>
          <a:solidFill>
            <a:srgbClr val="6d28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2" name="TextBox 24"/>
          <p:cNvSpPr/>
          <p:nvPr/>
        </p:nvSpPr>
        <p:spPr>
          <a:xfrm>
            <a:off x="8301600" y="4437720"/>
            <a:ext cx="2883600" cy="961560"/>
          </a:xfrm>
          <a:prstGeom prst="rect">
            <a:avLst/>
          </a:prstGeom>
          <a:noFill/>
          <a:ln w="0">
            <a:noFill/>
          </a:ln>
        </p:spPr>
        <p:style>
          <a:lnRef idx="0"/>
          <a:fillRef idx="0"/>
          <a:effectRef idx="0"/>
          <a:fontRef idx="minor"/>
        </p:style>
        <p:txBody>
          <a:bodyPr lIns="0" rIns="0" tIns="0" bIns="0" anchor="t">
            <a:spAutoFit/>
          </a:bodyPr>
          <a:p>
            <a:pPr defTabSz="457200">
              <a:lnSpc>
                <a:spcPct val="115000"/>
              </a:lnSpc>
              <a:spcAft>
                <a:spcPts val="499"/>
              </a:spcAft>
            </a:pPr>
            <a:r>
              <a:rPr b="1" lang="en-US" sz="1350" spc="-1" strike="noStrike">
                <a:solidFill>
                  <a:srgbClr val="0f172a"/>
                </a:solidFill>
                <a:latin typeface="Segoe UI"/>
              </a:rPr>
              <a:t>Credential-free at runtime</a:t>
            </a:r>
            <a:endParaRPr b="0" lang="en-US" sz="1350" spc="-1" strike="noStrike">
              <a:solidFill>
                <a:srgbClr val="000000"/>
              </a:solidFill>
              <a:latin typeface="Arial"/>
            </a:endParaRPr>
          </a:p>
          <a:p>
            <a:pPr defTabSz="457200">
              <a:lnSpc>
                <a:spcPct val="126000"/>
              </a:lnSpc>
            </a:pPr>
            <a:r>
              <a:rPr b="0" lang="en-US" sz="1150" spc="-1" strike="noStrike">
                <a:solidFill>
                  <a:srgbClr val="64748b"/>
                </a:solidFill>
                <a:latin typeface="Segoe UI"/>
              </a:rPr>
              <a:t>Workload identity in the cluster, falling back to key-based auth only where identity is unavailable.</a:t>
            </a:r>
            <a:endParaRPr b="0" lang="en-US" sz="1150" spc="-1" strike="noStrike">
              <a:solidFill>
                <a:srgbClr val="000000"/>
              </a:solidFill>
              <a:latin typeface="Arial"/>
            </a:endParaRPr>
          </a:p>
        </p:txBody>
      </p:sp>
      <p:sp>
        <p:nvSpPr>
          <p:cNvPr id="403" name="TextBox 25"/>
          <p:cNvSpPr/>
          <p:nvPr/>
        </p:nvSpPr>
        <p:spPr>
          <a:xfrm>
            <a:off x="10317240" y="6327720"/>
            <a:ext cx="1096560" cy="1526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1000" spc="-1" strike="noStrike">
                <a:solidFill>
                  <a:srgbClr val="94a3b8"/>
                </a:solidFill>
                <a:latin typeface="Segoe UI"/>
              </a:rPr>
              <a:t>18</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Rectangle 1"/>
          <p:cNvSpPr/>
          <p:nvPr/>
        </p:nvSpPr>
        <p:spPr>
          <a:xfrm>
            <a:off x="0" y="0"/>
            <a:ext cx="12191040" cy="6857280"/>
          </a:xfrm>
          <a:prstGeom prst="rect">
            <a:avLst/>
          </a:prstGeom>
          <a:solidFill>
            <a:srgbClr val="0b12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5" name="Rectangle 2"/>
          <p:cNvSpPr/>
          <p:nvPr/>
        </p:nvSpPr>
        <p:spPr>
          <a:xfrm>
            <a:off x="0" y="0"/>
            <a:ext cx="273600" cy="6857280"/>
          </a:xfrm>
          <a:prstGeom prst="rect">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6" name="TextBox 3"/>
          <p:cNvSpPr/>
          <p:nvPr/>
        </p:nvSpPr>
        <p:spPr>
          <a:xfrm>
            <a:off x="1234440" y="804600"/>
            <a:ext cx="8228880" cy="182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d4ed8"/>
                </a:solidFill>
                <a:latin typeface="Segoe UI"/>
              </a:rPr>
              <a:t>IN SUMMARY</a:t>
            </a:r>
            <a:endParaRPr b="0" lang="en-US" sz="1200" spc="-1" strike="noStrike">
              <a:solidFill>
                <a:srgbClr val="000000"/>
              </a:solidFill>
              <a:latin typeface="Arial"/>
            </a:endParaRPr>
          </a:p>
        </p:txBody>
      </p:sp>
      <p:sp>
        <p:nvSpPr>
          <p:cNvPr id="407" name="TextBox 4"/>
          <p:cNvSpPr/>
          <p:nvPr/>
        </p:nvSpPr>
        <p:spPr>
          <a:xfrm>
            <a:off x="1234440" y="1188720"/>
            <a:ext cx="8228880" cy="54360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a:rPr>
              <a:t>Things worth keeping</a:t>
            </a:r>
            <a:endParaRPr b="0" lang="en-US" sz="3400" spc="-1" strike="noStrike">
              <a:solidFill>
                <a:srgbClr val="000000"/>
              </a:solidFill>
              <a:latin typeface="Arial"/>
            </a:endParaRPr>
          </a:p>
        </p:txBody>
      </p:sp>
      <p:sp>
        <p:nvSpPr>
          <p:cNvPr id="408" name="Rounded Rectangle 8"/>
          <p:cNvSpPr/>
          <p:nvPr/>
        </p:nvSpPr>
        <p:spPr>
          <a:xfrm>
            <a:off x="1234440" y="3081600"/>
            <a:ext cx="273600" cy="273600"/>
          </a:xfrm>
          <a:prstGeom prst="roundRect">
            <a:avLst>
              <a:gd name="adj" fmla="val 30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409" name="TextBox 9"/>
          <p:cNvSpPr/>
          <p:nvPr/>
        </p:nvSpPr>
        <p:spPr>
          <a:xfrm>
            <a:off x="1234440" y="3113640"/>
            <a:ext cx="2736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a:t>
            </a:r>
            <a:endParaRPr b="0" lang="en-US" sz="1150" spc="-1" strike="noStrike">
              <a:solidFill>
                <a:srgbClr val="000000"/>
              </a:solidFill>
              <a:latin typeface="Arial"/>
            </a:endParaRPr>
          </a:p>
        </p:txBody>
      </p:sp>
      <p:sp>
        <p:nvSpPr>
          <p:cNvPr id="410" name="TextBox 10"/>
          <p:cNvSpPr/>
          <p:nvPr/>
        </p:nvSpPr>
        <p:spPr>
          <a:xfrm>
            <a:off x="1755720" y="3063240"/>
            <a:ext cx="9143280" cy="51804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300"/>
              </a:spcAft>
            </a:pPr>
            <a:r>
              <a:rPr b="1" lang="en-US" sz="1500" spc="-1" strike="noStrike">
                <a:solidFill>
                  <a:srgbClr val="ffffff"/>
                </a:solidFill>
                <a:latin typeface="Segoe UI"/>
              </a:rPr>
              <a:t>One call, many formats, one output shape</a:t>
            </a:r>
            <a:endParaRPr b="0" lang="en-US" sz="1500" spc="-1" strike="noStrike">
              <a:solidFill>
                <a:srgbClr val="000000"/>
              </a:solidFill>
              <a:latin typeface="Arial"/>
            </a:endParaRPr>
          </a:p>
          <a:p>
            <a:pPr defTabSz="457200">
              <a:lnSpc>
                <a:spcPct val="125000"/>
              </a:lnSpc>
            </a:pPr>
            <a:r>
              <a:rPr b="0" lang="en-US" sz="1200" spc="-1" strike="noStrike">
                <a:solidFill>
                  <a:srgbClr val="94a3b8"/>
                </a:solidFill>
                <a:latin typeface="Segoe UI"/>
              </a:rPr>
              <a:t>The caller never branches on file type. Detection and routing happen server-side.</a:t>
            </a:r>
            <a:endParaRPr b="0" lang="en-US" sz="1200" spc="-1" strike="noStrike">
              <a:solidFill>
                <a:srgbClr val="000000"/>
              </a:solidFill>
              <a:latin typeface="Arial"/>
            </a:endParaRPr>
          </a:p>
        </p:txBody>
      </p:sp>
      <p:sp>
        <p:nvSpPr>
          <p:cNvPr id="411" name="Rounded Rectangle 11"/>
          <p:cNvSpPr/>
          <p:nvPr/>
        </p:nvSpPr>
        <p:spPr>
          <a:xfrm>
            <a:off x="1234440" y="3904560"/>
            <a:ext cx="273600" cy="273600"/>
          </a:xfrm>
          <a:prstGeom prst="roundRect">
            <a:avLst>
              <a:gd name="adj" fmla="val 30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2" name="TextBox 12"/>
          <p:cNvSpPr/>
          <p:nvPr/>
        </p:nvSpPr>
        <p:spPr>
          <a:xfrm>
            <a:off x="1234440" y="3936600"/>
            <a:ext cx="2736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a:t>
            </a:r>
            <a:endParaRPr b="0" lang="en-US" sz="1150" spc="-1" strike="noStrike">
              <a:solidFill>
                <a:srgbClr val="000000"/>
              </a:solidFill>
              <a:latin typeface="Arial"/>
            </a:endParaRPr>
          </a:p>
        </p:txBody>
      </p:sp>
      <p:sp>
        <p:nvSpPr>
          <p:cNvPr id="413" name="TextBox 13"/>
          <p:cNvSpPr/>
          <p:nvPr/>
        </p:nvSpPr>
        <p:spPr>
          <a:xfrm>
            <a:off x="1755720" y="3886200"/>
            <a:ext cx="9143280" cy="51804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300"/>
              </a:spcAft>
            </a:pPr>
            <a:r>
              <a:rPr b="1" lang="en-US" sz="1500" spc="-1" strike="noStrike">
                <a:solidFill>
                  <a:srgbClr val="ffffff"/>
                </a:solidFill>
                <a:latin typeface="Segoe UI"/>
              </a:rPr>
              <a:t>Extraction stays separate from interpretation</a:t>
            </a:r>
            <a:endParaRPr b="0" lang="en-US" sz="1500" spc="-1" strike="noStrike">
              <a:solidFill>
                <a:srgbClr val="000000"/>
              </a:solidFill>
              <a:latin typeface="Arial"/>
            </a:endParaRPr>
          </a:p>
          <a:p>
            <a:pPr defTabSz="457200">
              <a:lnSpc>
                <a:spcPct val="125000"/>
              </a:lnSpc>
            </a:pPr>
            <a:r>
              <a:rPr b="0" lang="en-US" sz="1200" spc="-1" strike="noStrike">
                <a:solidFill>
                  <a:srgbClr val="94a3b8"/>
                </a:solidFill>
                <a:latin typeface="Segoe UI"/>
              </a:rPr>
              <a:t>Semantics live in the agent's prompt, not baked invisibly into the extraction layer.</a:t>
            </a:r>
            <a:endParaRPr b="0" lang="en-US" sz="1200" spc="-1" strike="noStrike">
              <a:solidFill>
                <a:srgbClr val="000000"/>
              </a:solidFill>
              <a:latin typeface="Arial"/>
            </a:endParaRPr>
          </a:p>
        </p:txBody>
      </p:sp>
      <p:sp>
        <p:nvSpPr>
          <p:cNvPr id="414" name="Rounded Rectangle 14"/>
          <p:cNvSpPr/>
          <p:nvPr/>
        </p:nvSpPr>
        <p:spPr>
          <a:xfrm>
            <a:off x="1234440" y="4727520"/>
            <a:ext cx="273600" cy="273600"/>
          </a:xfrm>
          <a:prstGeom prst="roundRect">
            <a:avLst>
              <a:gd name="adj" fmla="val 30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5" name="TextBox 15"/>
          <p:cNvSpPr/>
          <p:nvPr/>
        </p:nvSpPr>
        <p:spPr>
          <a:xfrm>
            <a:off x="1234440" y="4759560"/>
            <a:ext cx="2736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a:t>
            </a:r>
            <a:endParaRPr b="0" lang="en-US" sz="1150" spc="-1" strike="noStrike">
              <a:solidFill>
                <a:srgbClr val="000000"/>
              </a:solidFill>
              <a:latin typeface="Arial"/>
            </a:endParaRPr>
          </a:p>
        </p:txBody>
      </p:sp>
      <p:sp>
        <p:nvSpPr>
          <p:cNvPr id="416" name="TextBox 16"/>
          <p:cNvSpPr/>
          <p:nvPr/>
        </p:nvSpPr>
        <p:spPr>
          <a:xfrm>
            <a:off x="1755720" y="4709160"/>
            <a:ext cx="9143280" cy="51804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300"/>
              </a:spcAft>
            </a:pPr>
            <a:r>
              <a:rPr b="1" lang="en-US" sz="1500" spc="-1" strike="noStrike">
                <a:solidFill>
                  <a:srgbClr val="ffffff"/>
                </a:solidFill>
                <a:latin typeface="Segoe UI"/>
              </a:rPr>
              <a:t>Typed numbers separate computing from guessing</a:t>
            </a:r>
            <a:endParaRPr b="0" lang="en-US" sz="1500" spc="-1" strike="noStrike">
              <a:solidFill>
                <a:srgbClr val="000000"/>
              </a:solidFill>
              <a:latin typeface="Arial"/>
            </a:endParaRPr>
          </a:p>
          <a:p>
            <a:pPr defTabSz="457200">
              <a:lnSpc>
                <a:spcPct val="125000"/>
              </a:lnSpc>
            </a:pPr>
            <a:r>
              <a:rPr b="0" lang="en-US" sz="1200" spc="-1" strike="noStrike">
                <a:solidFill>
                  <a:srgbClr val="94a3b8"/>
                </a:solidFill>
                <a:latin typeface="Segoe UI"/>
              </a:rPr>
              <a:t>Stored cell values, not rendered text — the one claim a generic pipeline cannot make.</a:t>
            </a:r>
            <a:endParaRPr b="0" lang="en-US" sz="1200" spc="-1" strike="noStrike">
              <a:solidFill>
                <a:srgbClr val="000000"/>
              </a:solidFill>
              <a:latin typeface="Arial"/>
            </a:endParaRPr>
          </a:p>
        </p:txBody>
      </p:sp>
      <p:sp>
        <p:nvSpPr>
          <p:cNvPr id="417" name="Rounded Rectangle 17"/>
          <p:cNvSpPr/>
          <p:nvPr/>
        </p:nvSpPr>
        <p:spPr>
          <a:xfrm>
            <a:off x="1234440" y="5550480"/>
            <a:ext cx="273600" cy="273600"/>
          </a:xfrm>
          <a:prstGeom prst="roundRect">
            <a:avLst>
              <a:gd name="adj" fmla="val 30000"/>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8" name="TextBox 18"/>
          <p:cNvSpPr/>
          <p:nvPr/>
        </p:nvSpPr>
        <p:spPr>
          <a:xfrm>
            <a:off x="1234440" y="5582520"/>
            <a:ext cx="273600" cy="175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50" spc="-1" strike="noStrike">
                <a:solidFill>
                  <a:srgbClr val="ffffff"/>
                </a:solidFill>
                <a:latin typeface="Segoe UI"/>
              </a:rPr>
              <a:t>.</a:t>
            </a:r>
            <a:endParaRPr b="0" lang="en-US" sz="1150" spc="-1" strike="noStrike">
              <a:solidFill>
                <a:srgbClr val="000000"/>
              </a:solidFill>
              <a:latin typeface="Arial"/>
            </a:endParaRPr>
          </a:p>
        </p:txBody>
      </p:sp>
      <p:sp>
        <p:nvSpPr>
          <p:cNvPr id="419" name="TextBox 19"/>
          <p:cNvSpPr/>
          <p:nvPr/>
        </p:nvSpPr>
        <p:spPr>
          <a:xfrm>
            <a:off x="1755720" y="5532120"/>
            <a:ext cx="9143280" cy="518040"/>
          </a:xfrm>
          <a:prstGeom prst="rect">
            <a:avLst/>
          </a:prstGeom>
          <a:noFill/>
          <a:ln w="0">
            <a:noFill/>
          </a:ln>
        </p:spPr>
        <p:style>
          <a:lnRef idx="0"/>
          <a:fillRef idx="0"/>
          <a:effectRef idx="0"/>
          <a:fontRef idx="minor"/>
        </p:style>
        <p:txBody>
          <a:bodyPr lIns="0" rIns="0" tIns="0" bIns="0" anchor="t">
            <a:spAutoFit/>
          </a:bodyPr>
          <a:p>
            <a:pPr defTabSz="457200">
              <a:lnSpc>
                <a:spcPct val="110000"/>
              </a:lnSpc>
              <a:spcAft>
                <a:spcPts val="300"/>
              </a:spcAft>
            </a:pPr>
            <a:r>
              <a:rPr b="1" lang="en-US" sz="1500" spc="-1" strike="noStrike">
                <a:solidFill>
                  <a:srgbClr val="ffffff"/>
                </a:solidFill>
                <a:latin typeface="Segoe UI"/>
              </a:rPr>
              <a:t>Partial success and hard limits make it loop-safe</a:t>
            </a:r>
            <a:endParaRPr b="0" lang="en-US" sz="1500" spc="-1" strike="noStrike">
              <a:solidFill>
                <a:srgbClr val="000000"/>
              </a:solidFill>
              <a:latin typeface="Arial"/>
            </a:endParaRPr>
          </a:p>
          <a:p>
            <a:pPr defTabSz="457200">
              <a:lnSpc>
                <a:spcPct val="125000"/>
              </a:lnSpc>
            </a:pPr>
            <a:r>
              <a:rPr b="0" lang="en-US" sz="1200" spc="-1" strike="noStrike">
                <a:solidFill>
                  <a:srgbClr val="94a3b8"/>
                </a:solidFill>
                <a:latin typeface="Segoe UI"/>
              </a:rPr>
              <a:t>One bad file yields one error entry, never a failed batch.</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0" name="" descr=""/>
          <p:cNvPicPr/>
          <p:nvPr/>
        </p:nvPicPr>
        <p:blipFill>
          <a:blip r:embed="rId1"/>
          <a:stretch/>
        </p:blipFill>
        <p:spPr>
          <a:xfrm>
            <a:off x="3182760" y="9720"/>
            <a:ext cx="5863320" cy="68576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
  <dc:language>en-US</dc:language>
  <cp:lastModifiedBy/>
  <dcterms:modified xsi:type="dcterms:W3CDTF">2026-08-23T22:44:35Z</dcterms:modified>
  <cp:revision>10</cp:revision>
  <dc:subject>Architecture and implementation overview</dc:subject>
  <dc:title>Document Intelligence for AI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